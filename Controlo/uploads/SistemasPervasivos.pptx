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5" d="100"/>
          <a:sy n="65" d="100"/>
        </p:scale>
        <p:origin x="85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pt-BR"/>
              <a:t>Clique para editar o título Mestre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11/21/2024</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pt-BR"/>
              <a:t>Clique para editar o título Mestre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11/21/2024</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685800" y="3132666"/>
            <a:ext cx="5311775" cy="3086019"/>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172200" y="3132666"/>
            <a:ext cx="5334000" cy="3086019"/>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11/21/2024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11/21/2024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11/21/2024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pt-BR"/>
              <a:t>Clique para editar o título Mestre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11/21/2024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11/21/2024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11/21/2024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e Legenda">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pt-BR"/>
              <a:t>Clique para editar o título Mestre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11/21/2024</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ção com Legenda">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pt-BR"/>
              <a:t>Clique para editar o título Mestre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11/21/2024</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ão de Nom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pt-BR"/>
              <a:t>Clique para editar o título Mestre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11/21/2024</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pt-BR"/>
              <a:t>Clique para editar o título Mestre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3" name="Date Placeholder 2"/>
          <p:cNvSpPr>
            <a:spLocks noGrp="1"/>
          </p:cNvSpPr>
          <p:nvPr>
            <p:ph type="dt" sz="half" idx="10"/>
          </p:nvPr>
        </p:nvSpPr>
        <p:spPr/>
        <p:txBody>
          <a:bodyPr/>
          <a:lstStyle/>
          <a:p>
            <a:fld id="{48A87A34-81AB-432B-8DAE-1953F412C126}" type="datetimeFigureOut">
              <a:rPr lang="en-US" dirty="0"/>
              <a:t>11/21/2024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pt-BR"/>
              <a:t>Clique para editar o título Mestre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3" name="Date Placeholder 2"/>
          <p:cNvSpPr>
            <a:spLocks noGrp="1"/>
          </p:cNvSpPr>
          <p:nvPr>
            <p:ph type="dt" sz="half" idx="10"/>
          </p:nvPr>
        </p:nvSpPr>
        <p:spPr/>
        <p:txBody>
          <a:bodyPr/>
          <a:lstStyle/>
          <a:p>
            <a:fld id="{48A87A34-81AB-432B-8DAE-1953F412C126}" type="datetimeFigureOut">
              <a:rPr lang="en-US" dirty="0"/>
              <a:t>11/21/2024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exto e Título Vertical">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pt-BR"/>
              <a:t>Clique para editar o título Mestre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11/21/2024</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11/21/2024</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jfif"/><Relationship Id="rId2" Type="http://schemas.openxmlformats.org/officeDocument/2006/relationships/image" Target="../media/image6.jfif"/><Relationship Id="rId1" Type="http://schemas.openxmlformats.org/officeDocument/2006/relationships/slideLayout" Target="../slideLayouts/slideLayout14.xml"/><Relationship Id="rId4" Type="http://schemas.openxmlformats.org/officeDocument/2006/relationships/image" Target="../media/image8.jfif"/></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2.jfif"/><Relationship Id="rId2" Type="http://schemas.openxmlformats.org/officeDocument/2006/relationships/image" Target="../media/image11.jpg"/><Relationship Id="rId1" Type="http://schemas.openxmlformats.org/officeDocument/2006/relationships/slideLayout" Target="../slideLayouts/slideLayout15.xml"/><Relationship Id="rId4" Type="http://schemas.openxmlformats.org/officeDocument/2006/relationships/image" Target="../media/image13.jfif"/></Relationships>
</file>

<file path=ppt/slides/_rels/slide11.xml.rels><?xml version="1.0" encoding="UTF-8" standalone="yes"?>
<Relationships xmlns="http://schemas.openxmlformats.org/package/2006/relationships"><Relationship Id="rId3" Type="http://schemas.openxmlformats.org/officeDocument/2006/relationships/image" Target="../media/image15.jfif"/><Relationship Id="rId2" Type="http://schemas.openxmlformats.org/officeDocument/2006/relationships/image" Target="../media/image14.jpg"/><Relationship Id="rId1" Type="http://schemas.openxmlformats.org/officeDocument/2006/relationships/slideLayout" Target="../slideLayouts/slideLayout14.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B854D6-97D6-A62A-180D-8C4E49CFD858}"/>
              </a:ext>
            </a:extLst>
          </p:cNvPr>
          <p:cNvSpPr>
            <a:spLocks noGrp="1"/>
          </p:cNvSpPr>
          <p:nvPr>
            <p:ph type="ctrTitle"/>
          </p:nvPr>
        </p:nvSpPr>
        <p:spPr>
          <a:xfrm>
            <a:off x="835378" y="462845"/>
            <a:ext cx="9985022" cy="2257778"/>
          </a:xfrm>
        </p:spPr>
        <p:txBody>
          <a:bodyPr/>
          <a:lstStyle/>
          <a:p>
            <a:pPr marL="6350" marR="34290" indent="-6350" algn="ctr">
              <a:lnSpc>
                <a:spcPct val="107000"/>
              </a:lnSpc>
              <a:spcAft>
                <a:spcPts val="660"/>
              </a:spcAft>
            </a:pPr>
            <a:r>
              <a:rPr lang="pt-AO" sz="1800" kern="100" dirty="0">
                <a:solidFill>
                  <a:srgbClr val="000000"/>
                </a:solidFill>
                <a:effectLst/>
                <a:latin typeface="Times New Roman" panose="02020603050405020304" pitchFamily="18" charset="0"/>
                <a:ea typeface="Calibri" panose="020F0502020204030204" pitchFamily="34" charset="0"/>
              </a:rPr>
              <a:t>Universidade Gregório Semedo  </a:t>
            </a:r>
            <a:br>
              <a:rPr lang="pt-AO" sz="1800" kern="100" dirty="0">
                <a:solidFill>
                  <a:srgbClr val="000000"/>
                </a:solidFill>
                <a:effectLst/>
                <a:latin typeface="Arial" panose="020B0604020202020204" pitchFamily="34" charset="0"/>
                <a:ea typeface="Arial" panose="020B0604020202020204" pitchFamily="34" charset="0"/>
              </a:rPr>
            </a:br>
            <a:r>
              <a:rPr lang="pt-AO" sz="1800" kern="100" dirty="0">
                <a:solidFill>
                  <a:srgbClr val="000000"/>
                </a:solidFill>
                <a:effectLst/>
                <a:latin typeface="Times New Roman" panose="02020603050405020304" pitchFamily="18" charset="0"/>
                <a:ea typeface="Calibri" panose="020F0502020204030204" pitchFamily="34" charset="0"/>
              </a:rPr>
              <a:t>Faculdade de Engenharia e Novas Tecnologias  </a:t>
            </a:r>
            <a:br>
              <a:rPr lang="pt-AO" sz="1800" kern="100" dirty="0">
                <a:solidFill>
                  <a:srgbClr val="000000"/>
                </a:solidFill>
                <a:effectLst/>
                <a:latin typeface="Arial" panose="020B0604020202020204" pitchFamily="34" charset="0"/>
                <a:ea typeface="Arial" panose="020B0604020202020204" pitchFamily="34" charset="0"/>
              </a:rPr>
            </a:br>
            <a:r>
              <a:rPr lang="pt-AO" sz="1800" dirty="0">
                <a:solidFill>
                  <a:srgbClr val="000000"/>
                </a:solidFill>
                <a:effectLst/>
                <a:latin typeface="Times New Roman" panose="02020603050405020304" pitchFamily="18" charset="0"/>
                <a:ea typeface="Calibri" panose="020F0502020204030204" pitchFamily="34" charset="0"/>
              </a:rPr>
              <a:t>Curso de Engenharia Informática </a:t>
            </a:r>
            <a:endParaRPr lang="pt-AO" dirty="0"/>
          </a:p>
        </p:txBody>
      </p:sp>
      <p:sp>
        <p:nvSpPr>
          <p:cNvPr id="3" name="Subtítulo 2">
            <a:extLst>
              <a:ext uri="{FF2B5EF4-FFF2-40B4-BE49-F238E27FC236}">
                <a16:creationId xmlns:a16="http://schemas.microsoft.com/office/drawing/2014/main" id="{73736F26-7AF2-558E-25B3-D97292EA5EBB}"/>
              </a:ext>
            </a:extLst>
          </p:cNvPr>
          <p:cNvSpPr>
            <a:spLocks noGrp="1"/>
          </p:cNvSpPr>
          <p:nvPr>
            <p:ph type="subTitle" idx="1"/>
          </p:nvPr>
        </p:nvSpPr>
        <p:spPr>
          <a:xfrm>
            <a:off x="1371600" y="2822222"/>
            <a:ext cx="9448800" cy="3838221"/>
          </a:xfrm>
        </p:spPr>
        <p:txBody>
          <a:bodyPr>
            <a:normAutofit fontScale="92500" lnSpcReduction="20000"/>
          </a:bodyPr>
          <a:lstStyle/>
          <a:p>
            <a:pPr marL="6350" marR="34925" indent="-6350" algn="ctr">
              <a:lnSpc>
                <a:spcPct val="107000"/>
              </a:lnSpc>
            </a:pPr>
            <a:r>
              <a:rPr lang="pt-AO" sz="4200" b="1" kern="100" dirty="0">
                <a:solidFill>
                  <a:srgbClr val="000000"/>
                </a:solidFill>
                <a:effectLst/>
                <a:latin typeface="Times New Roman" panose="02020603050405020304" pitchFamily="18" charset="0"/>
                <a:ea typeface="Calibri" panose="020F0502020204030204" pitchFamily="34" charset="0"/>
              </a:rPr>
              <a:t>Sistemas Pervasivos </a:t>
            </a:r>
            <a:endParaRPr lang="pt-AO" sz="4200" b="1" kern="100" dirty="0">
              <a:solidFill>
                <a:srgbClr val="000000"/>
              </a:solidFill>
              <a:effectLst/>
              <a:latin typeface="Calibri" panose="020F0502020204030204" pitchFamily="34" charset="0"/>
              <a:ea typeface="Calibri" panose="020F0502020204030204" pitchFamily="34" charset="0"/>
            </a:endParaRPr>
          </a:p>
          <a:p>
            <a:pPr marL="6350" marR="2540" indent="-6350" algn="ctr">
              <a:lnSpc>
                <a:spcPct val="107000"/>
              </a:lnSpc>
              <a:spcAft>
                <a:spcPts val="800"/>
              </a:spcAft>
            </a:pPr>
            <a:r>
              <a:rPr lang="pt-AO" sz="2800" kern="100" dirty="0">
                <a:solidFill>
                  <a:srgbClr val="000000"/>
                </a:solidFill>
                <a:effectLst/>
                <a:latin typeface="Times New Roman" panose="02020603050405020304" pitchFamily="18" charset="0"/>
                <a:ea typeface="Calibri" panose="020F0502020204030204" pitchFamily="34" charset="0"/>
              </a:rPr>
              <a:t>Uma análise dos sistemas ubíquos, móveis e de sensores.  </a:t>
            </a:r>
            <a:endParaRPr lang="pt-AO" sz="2800" kern="100" dirty="0">
              <a:solidFill>
                <a:srgbClr val="000000"/>
              </a:solidFill>
              <a:effectLst/>
              <a:latin typeface="Arial" panose="020B0604020202020204" pitchFamily="34" charset="0"/>
              <a:ea typeface="Arial" panose="020B0604020202020204" pitchFamily="34" charset="0"/>
            </a:endParaRPr>
          </a:p>
          <a:p>
            <a:pPr marL="3175" marR="2540" indent="-6350" algn="l">
              <a:lnSpc>
                <a:spcPct val="107000"/>
              </a:lnSpc>
              <a:spcAft>
                <a:spcPts val="760"/>
              </a:spcAft>
            </a:pPr>
            <a:r>
              <a:rPr lang="pt-AO" sz="1800" b="1" kern="100" dirty="0">
                <a:solidFill>
                  <a:srgbClr val="000000"/>
                </a:solidFill>
                <a:effectLst/>
                <a:latin typeface="Times New Roman" panose="02020603050405020304" pitchFamily="18" charset="0"/>
                <a:ea typeface="Calibri" panose="020F0502020204030204" pitchFamily="34" charset="0"/>
              </a:rPr>
              <a:t>Turma: 41M </a:t>
            </a:r>
            <a:r>
              <a:rPr lang="pt-AO" sz="1800" kern="100" dirty="0">
                <a:solidFill>
                  <a:srgbClr val="000000"/>
                </a:solidFill>
                <a:effectLst/>
                <a:latin typeface="Times New Roman" panose="02020603050405020304" pitchFamily="18" charset="0"/>
                <a:ea typeface="Calibri" panose="020F0502020204030204" pitchFamily="34" charset="0"/>
              </a:rPr>
              <a:t> </a:t>
            </a:r>
            <a:endParaRPr lang="pt-AO" sz="1800" kern="100" dirty="0">
              <a:solidFill>
                <a:srgbClr val="000000"/>
              </a:solidFill>
              <a:effectLst/>
              <a:latin typeface="Arial" panose="020B0604020202020204" pitchFamily="34" charset="0"/>
              <a:ea typeface="Arial" panose="020B0604020202020204" pitchFamily="34" charset="0"/>
            </a:endParaRPr>
          </a:p>
          <a:p>
            <a:pPr marL="3175" marR="2540" indent="-6350" algn="l">
              <a:lnSpc>
                <a:spcPct val="107000"/>
              </a:lnSpc>
              <a:spcAft>
                <a:spcPts val="760"/>
              </a:spcAft>
            </a:pPr>
            <a:r>
              <a:rPr lang="pt-AO" sz="1800" b="1" kern="100" dirty="0">
                <a:solidFill>
                  <a:srgbClr val="000000"/>
                </a:solidFill>
                <a:effectLst/>
                <a:latin typeface="Times New Roman" panose="02020603050405020304" pitchFamily="18" charset="0"/>
                <a:ea typeface="Calibri" panose="020F0502020204030204" pitchFamily="34" charset="0"/>
              </a:rPr>
              <a:t>Periodo: Manhã</a:t>
            </a:r>
            <a:r>
              <a:rPr lang="pt-PT" sz="1800" b="1" kern="100" dirty="0">
                <a:solidFill>
                  <a:srgbClr val="000000"/>
                </a:solidFill>
                <a:effectLst/>
                <a:latin typeface="Times New Roman" panose="02020603050405020304" pitchFamily="18" charset="0"/>
                <a:ea typeface="Calibri" panose="020F0502020204030204" pitchFamily="34" charset="0"/>
              </a:rPr>
              <a:t>                        </a:t>
            </a:r>
          </a:p>
          <a:p>
            <a:pPr marL="3175" marR="2540" indent="-6350" algn="l">
              <a:lnSpc>
                <a:spcPct val="107000"/>
              </a:lnSpc>
              <a:spcAft>
                <a:spcPts val="760"/>
              </a:spcAft>
            </a:pPr>
            <a:r>
              <a:rPr lang="pt-PT" sz="1800" kern="100" dirty="0">
                <a:solidFill>
                  <a:srgbClr val="000000"/>
                </a:solidFill>
                <a:effectLst/>
                <a:latin typeface="Arial" panose="020B0604020202020204" pitchFamily="34" charset="0"/>
                <a:ea typeface="Arial" panose="020B0604020202020204" pitchFamily="34" charset="0"/>
              </a:rPr>
              <a:t>                                                                                                                                </a:t>
            </a:r>
            <a:r>
              <a:rPr lang="pt-AO" sz="1800" kern="100" dirty="0">
                <a:solidFill>
                  <a:srgbClr val="000000"/>
                </a:solidFill>
                <a:effectLst/>
                <a:latin typeface="Arial" panose="020B0604020202020204" pitchFamily="34" charset="0"/>
                <a:ea typeface="Arial" panose="020B0604020202020204" pitchFamily="34" charset="0"/>
              </a:rPr>
              <a:t> </a:t>
            </a:r>
          </a:p>
          <a:p>
            <a:pPr marL="243840" marR="2540" indent="-234950" algn="r"/>
            <a:r>
              <a:rPr lang="pt-AO" sz="1800" kern="100" dirty="0">
                <a:solidFill>
                  <a:srgbClr val="000000"/>
                </a:solidFill>
                <a:effectLst/>
                <a:latin typeface="Arial" panose="020B0604020202020204" pitchFamily="34" charset="0"/>
                <a:ea typeface="Arial" panose="020B0604020202020204" pitchFamily="34" charset="0"/>
              </a:rPr>
              <a:t>  	  	  	  </a:t>
            </a:r>
            <a:r>
              <a:rPr lang="pt-PT" sz="1800" kern="100" dirty="0">
                <a:solidFill>
                  <a:srgbClr val="000000"/>
                </a:solidFill>
                <a:effectLst/>
                <a:latin typeface="Arial" panose="020B0604020202020204" pitchFamily="34" charset="0"/>
                <a:ea typeface="Arial" panose="020B0604020202020204" pitchFamily="34" charset="0"/>
              </a:rPr>
              <a:t>                    </a:t>
            </a:r>
            <a:r>
              <a:rPr lang="pt-AO" sz="1800" kern="100" dirty="0">
                <a:solidFill>
                  <a:srgbClr val="000000"/>
                </a:solidFill>
                <a:effectLst/>
                <a:latin typeface="Arial" panose="020B0604020202020204" pitchFamily="34" charset="0"/>
                <a:ea typeface="Arial" panose="020B0604020202020204" pitchFamily="34" charset="0"/>
              </a:rPr>
              <a:t> </a:t>
            </a:r>
            <a:r>
              <a:rPr lang="pt-PT" sz="1800" kern="100" dirty="0">
                <a:solidFill>
                  <a:srgbClr val="000000"/>
                </a:solidFill>
                <a:effectLst/>
                <a:latin typeface="Arial" panose="020B0604020202020204" pitchFamily="34" charset="0"/>
                <a:ea typeface="Arial" panose="020B0604020202020204" pitchFamily="34" charset="0"/>
              </a:rPr>
              <a:t>     </a:t>
            </a:r>
            <a:r>
              <a:rPr lang="pt-AO" sz="1800" kern="100" dirty="0">
                <a:solidFill>
                  <a:srgbClr val="000000"/>
                </a:solidFill>
                <a:effectLst/>
                <a:latin typeface="Arial" panose="020B0604020202020204" pitchFamily="34" charset="0"/>
                <a:ea typeface="Arial" panose="020B0604020202020204" pitchFamily="34" charset="0"/>
              </a:rPr>
              <a:t>Docente  	  	                           </a:t>
            </a:r>
            <a:r>
              <a:rPr lang="pt-PT" sz="1800" kern="100" dirty="0">
                <a:solidFill>
                  <a:srgbClr val="000000"/>
                </a:solidFill>
                <a:effectLst/>
                <a:latin typeface="Arial" panose="020B0604020202020204" pitchFamily="34" charset="0"/>
                <a:ea typeface="Arial" panose="020B0604020202020204" pitchFamily="34" charset="0"/>
              </a:rPr>
              <a:t>              </a:t>
            </a:r>
            <a:r>
              <a:rPr lang="pt-AO" sz="1800" kern="100" dirty="0">
                <a:solidFill>
                  <a:srgbClr val="000000"/>
                </a:solidFill>
                <a:effectLst/>
                <a:latin typeface="Arial" panose="020B0604020202020204" pitchFamily="34" charset="0"/>
                <a:ea typeface="Arial" panose="020B0604020202020204" pitchFamily="34" charset="0"/>
              </a:rPr>
              <a:t>________________________.  </a:t>
            </a:r>
          </a:p>
          <a:p>
            <a:pPr marL="243840" marR="2540" indent="-234950" algn="just"/>
            <a:r>
              <a:rPr lang="pt-AO" sz="1800" kern="100" dirty="0">
                <a:solidFill>
                  <a:srgbClr val="000000"/>
                </a:solidFill>
                <a:effectLst/>
                <a:latin typeface="Arial" panose="020B0604020202020204" pitchFamily="34" charset="0"/>
                <a:ea typeface="Arial" panose="020B0604020202020204" pitchFamily="34" charset="0"/>
              </a:rPr>
              <a:t>  	  	  	  	  	  	  	                       </a:t>
            </a:r>
            <a:r>
              <a:rPr lang="pt-PT" sz="1800" kern="100" dirty="0">
                <a:solidFill>
                  <a:srgbClr val="000000"/>
                </a:solidFill>
                <a:effectLst/>
                <a:latin typeface="Arial" panose="020B0604020202020204" pitchFamily="34" charset="0"/>
                <a:ea typeface="Arial" panose="020B0604020202020204" pitchFamily="34" charset="0"/>
              </a:rPr>
              <a:t>    </a:t>
            </a:r>
            <a:r>
              <a:rPr lang="pt-AO" sz="1800" kern="100" dirty="0">
                <a:solidFill>
                  <a:srgbClr val="000000"/>
                </a:solidFill>
                <a:effectLst/>
                <a:latin typeface="Arial" panose="020B0604020202020204" pitchFamily="34" charset="0"/>
                <a:ea typeface="Arial" panose="020B0604020202020204" pitchFamily="34" charset="0"/>
              </a:rPr>
              <a:t>  Prof.: Julia</a:t>
            </a:r>
          </a:p>
          <a:p>
            <a:pPr marL="5715" marR="2540" indent="-6350" algn="l">
              <a:lnSpc>
                <a:spcPct val="107000"/>
              </a:lnSpc>
              <a:spcAft>
                <a:spcPts val="1485"/>
              </a:spcAft>
            </a:pPr>
            <a:r>
              <a:rPr lang="pt-AO" sz="1800" kern="100" dirty="0">
                <a:solidFill>
                  <a:srgbClr val="000000"/>
                </a:solidFill>
                <a:effectLst/>
                <a:latin typeface="Times New Roman" panose="02020603050405020304" pitchFamily="18" charset="0"/>
                <a:ea typeface="Calibri" panose="020F0502020204030204" pitchFamily="34" charset="0"/>
              </a:rPr>
              <a:t> </a:t>
            </a:r>
            <a:endParaRPr lang="pt-AO" dirty="0"/>
          </a:p>
        </p:txBody>
      </p:sp>
      <p:pic>
        <p:nvPicPr>
          <p:cNvPr id="4" name="Picture 90">
            <a:extLst>
              <a:ext uri="{FF2B5EF4-FFF2-40B4-BE49-F238E27FC236}">
                <a16:creationId xmlns:a16="http://schemas.microsoft.com/office/drawing/2014/main" id="{1F50B749-5C21-0C5C-3F65-D236F8124B1E}"/>
              </a:ext>
            </a:extLst>
          </p:cNvPr>
          <p:cNvPicPr/>
          <p:nvPr/>
        </p:nvPicPr>
        <p:blipFill>
          <a:blip r:embed="rId2"/>
          <a:stretch>
            <a:fillRect/>
          </a:stretch>
        </p:blipFill>
        <p:spPr>
          <a:xfrm>
            <a:off x="5178107" y="361246"/>
            <a:ext cx="1835785" cy="1323340"/>
          </a:xfrm>
          <a:prstGeom prst="rect">
            <a:avLst/>
          </a:prstGeom>
        </p:spPr>
      </p:pic>
    </p:spTree>
    <p:extLst>
      <p:ext uri="{BB962C8B-B14F-4D97-AF65-F5344CB8AC3E}">
        <p14:creationId xmlns:p14="http://schemas.microsoft.com/office/powerpoint/2010/main" val="2884581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animEffect transition="in" filter="wipe(down)">
                                      <p:cBhvr>
                                        <p:cTn id="61" dur="580">
                                          <p:stCondLst>
                                            <p:cond delay="0"/>
                                          </p:stCondLst>
                                        </p:cTn>
                                        <p:tgtEl>
                                          <p:spTgt spid="3">
                                            <p:txEl>
                                              <p:pRg st="3" end="3"/>
                                            </p:txEl>
                                          </p:spTgt>
                                        </p:tgtEl>
                                      </p:cBhvr>
                                    </p:animEffect>
                                    <p:anim calcmode="lin" valueType="num">
                                      <p:cBhvr>
                                        <p:cTn id="62"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3" end="3"/>
                                            </p:txEl>
                                          </p:spTgt>
                                        </p:tgtEl>
                                      </p:cBhvr>
                                      <p:to x="100000" y="60000"/>
                                    </p:animScale>
                                    <p:animScale>
                                      <p:cBhvr>
                                        <p:cTn id="68" dur="166" decel="50000">
                                          <p:stCondLst>
                                            <p:cond delay="676"/>
                                          </p:stCondLst>
                                        </p:cTn>
                                        <p:tgtEl>
                                          <p:spTgt spid="3">
                                            <p:txEl>
                                              <p:pRg st="3" end="3"/>
                                            </p:txEl>
                                          </p:spTgt>
                                        </p:tgtEl>
                                      </p:cBhvr>
                                      <p:to x="100000" y="100000"/>
                                    </p:animScale>
                                    <p:animScale>
                                      <p:cBhvr>
                                        <p:cTn id="69" dur="26">
                                          <p:stCondLst>
                                            <p:cond delay="1312"/>
                                          </p:stCondLst>
                                        </p:cTn>
                                        <p:tgtEl>
                                          <p:spTgt spid="3">
                                            <p:txEl>
                                              <p:pRg st="3" end="3"/>
                                            </p:txEl>
                                          </p:spTgt>
                                        </p:tgtEl>
                                      </p:cBhvr>
                                      <p:to x="100000" y="80000"/>
                                    </p:animScale>
                                    <p:animScale>
                                      <p:cBhvr>
                                        <p:cTn id="70" dur="166" decel="50000">
                                          <p:stCondLst>
                                            <p:cond delay="1338"/>
                                          </p:stCondLst>
                                        </p:cTn>
                                        <p:tgtEl>
                                          <p:spTgt spid="3">
                                            <p:txEl>
                                              <p:pRg st="3" end="3"/>
                                            </p:txEl>
                                          </p:spTgt>
                                        </p:tgtEl>
                                      </p:cBhvr>
                                      <p:to x="100000" y="100000"/>
                                    </p:animScale>
                                    <p:animScale>
                                      <p:cBhvr>
                                        <p:cTn id="71" dur="26">
                                          <p:stCondLst>
                                            <p:cond delay="1642"/>
                                          </p:stCondLst>
                                        </p:cTn>
                                        <p:tgtEl>
                                          <p:spTgt spid="3">
                                            <p:txEl>
                                              <p:pRg st="3" end="3"/>
                                            </p:txEl>
                                          </p:spTgt>
                                        </p:tgtEl>
                                      </p:cBhvr>
                                      <p:to x="100000" y="90000"/>
                                    </p:animScale>
                                    <p:animScale>
                                      <p:cBhvr>
                                        <p:cTn id="72" dur="166" decel="50000">
                                          <p:stCondLst>
                                            <p:cond delay="1668"/>
                                          </p:stCondLst>
                                        </p:cTn>
                                        <p:tgtEl>
                                          <p:spTgt spid="3">
                                            <p:txEl>
                                              <p:pRg st="3" end="3"/>
                                            </p:txEl>
                                          </p:spTgt>
                                        </p:tgtEl>
                                      </p:cBhvr>
                                      <p:to x="100000" y="100000"/>
                                    </p:animScale>
                                    <p:animScale>
                                      <p:cBhvr>
                                        <p:cTn id="73" dur="26">
                                          <p:stCondLst>
                                            <p:cond delay="1808"/>
                                          </p:stCondLst>
                                        </p:cTn>
                                        <p:tgtEl>
                                          <p:spTgt spid="3">
                                            <p:txEl>
                                              <p:pRg st="3" end="3"/>
                                            </p:txEl>
                                          </p:spTgt>
                                        </p:tgtEl>
                                      </p:cBhvr>
                                      <p:to x="100000" y="95000"/>
                                    </p:animScale>
                                    <p:animScale>
                                      <p:cBhvr>
                                        <p:cTn id="74" dur="166" decel="50000">
                                          <p:stCondLst>
                                            <p:cond delay="1834"/>
                                          </p:stCondLst>
                                        </p:cTn>
                                        <p:tgtEl>
                                          <p:spTgt spid="3">
                                            <p:txEl>
                                              <p:pRg st="3" end="3"/>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3">
                                            <p:txEl>
                                              <p:pRg st="4" end="4"/>
                                            </p:txEl>
                                          </p:spTgt>
                                        </p:tgtEl>
                                        <p:attrNameLst>
                                          <p:attrName>style.visibility</p:attrName>
                                        </p:attrNameLst>
                                      </p:cBhvr>
                                      <p:to>
                                        <p:strVal val="visible"/>
                                      </p:to>
                                    </p:set>
                                    <p:animEffect transition="in" filter="wipe(down)">
                                      <p:cBhvr>
                                        <p:cTn id="79" dur="580">
                                          <p:stCondLst>
                                            <p:cond delay="0"/>
                                          </p:stCondLst>
                                        </p:cTn>
                                        <p:tgtEl>
                                          <p:spTgt spid="3">
                                            <p:txEl>
                                              <p:pRg st="4" end="4"/>
                                            </p:txEl>
                                          </p:spTgt>
                                        </p:tgtEl>
                                      </p:cBhvr>
                                    </p:animEffect>
                                    <p:anim calcmode="lin" valueType="num">
                                      <p:cBhvr>
                                        <p:cTn id="80"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3">
                                            <p:txEl>
                                              <p:pRg st="4" end="4"/>
                                            </p:txEl>
                                          </p:spTgt>
                                        </p:tgtEl>
                                      </p:cBhvr>
                                      <p:to x="100000" y="60000"/>
                                    </p:animScale>
                                    <p:animScale>
                                      <p:cBhvr>
                                        <p:cTn id="86" dur="166" decel="50000">
                                          <p:stCondLst>
                                            <p:cond delay="676"/>
                                          </p:stCondLst>
                                        </p:cTn>
                                        <p:tgtEl>
                                          <p:spTgt spid="3">
                                            <p:txEl>
                                              <p:pRg st="4" end="4"/>
                                            </p:txEl>
                                          </p:spTgt>
                                        </p:tgtEl>
                                      </p:cBhvr>
                                      <p:to x="100000" y="100000"/>
                                    </p:animScale>
                                    <p:animScale>
                                      <p:cBhvr>
                                        <p:cTn id="87" dur="26">
                                          <p:stCondLst>
                                            <p:cond delay="1312"/>
                                          </p:stCondLst>
                                        </p:cTn>
                                        <p:tgtEl>
                                          <p:spTgt spid="3">
                                            <p:txEl>
                                              <p:pRg st="4" end="4"/>
                                            </p:txEl>
                                          </p:spTgt>
                                        </p:tgtEl>
                                      </p:cBhvr>
                                      <p:to x="100000" y="80000"/>
                                    </p:animScale>
                                    <p:animScale>
                                      <p:cBhvr>
                                        <p:cTn id="88" dur="166" decel="50000">
                                          <p:stCondLst>
                                            <p:cond delay="1338"/>
                                          </p:stCondLst>
                                        </p:cTn>
                                        <p:tgtEl>
                                          <p:spTgt spid="3">
                                            <p:txEl>
                                              <p:pRg st="4" end="4"/>
                                            </p:txEl>
                                          </p:spTgt>
                                        </p:tgtEl>
                                      </p:cBhvr>
                                      <p:to x="100000" y="100000"/>
                                    </p:animScale>
                                    <p:animScale>
                                      <p:cBhvr>
                                        <p:cTn id="89" dur="26">
                                          <p:stCondLst>
                                            <p:cond delay="1642"/>
                                          </p:stCondLst>
                                        </p:cTn>
                                        <p:tgtEl>
                                          <p:spTgt spid="3">
                                            <p:txEl>
                                              <p:pRg st="4" end="4"/>
                                            </p:txEl>
                                          </p:spTgt>
                                        </p:tgtEl>
                                      </p:cBhvr>
                                      <p:to x="100000" y="90000"/>
                                    </p:animScale>
                                    <p:animScale>
                                      <p:cBhvr>
                                        <p:cTn id="90" dur="166" decel="50000">
                                          <p:stCondLst>
                                            <p:cond delay="1668"/>
                                          </p:stCondLst>
                                        </p:cTn>
                                        <p:tgtEl>
                                          <p:spTgt spid="3">
                                            <p:txEl>
                                              <p:pRg st="4" end="4"/>
                                            </p:txEl>
                                          </p:spTgt>
                                        </p:tgtEl>
                                      </p:cBhvr>
                                      <p:to x="100000" y="100000"/>
                                    </p:animScale>
                                    <p:animScale>
                                      <p:cBhvr>
                                        <p:cTn id="91" dur="26">
                                          <p:stCondLst>
                                            <p:cond delay="1808"/>
                                          </p:stCondLst>
                                        </p:cTn>
                                        <p:tgtEl>
                                          <p:spTgt spid="3">
                                            <p:txEl>
                                              <p:pRg st="4" end="4"/>
                                            </p:txEl>
                                          </p:spTgt>
                                        </p:tgtEl>
                                      </p:cBhvr>
                                      <p:to x="100000" y="95000"/>
                                    </p:animScale>
                                    <p:animScale>
                                      <p:cBhvr>
                                        <p:cTn id="92" dur="166" decel="50000">
                                          <p:stCondLst>
                                            <p:cond delay="1834"/>
                                          </p:stCondLst>
                                        </p:cTn>
                                        <p:tgtEl>
                                          <p:spTgt spid="3">
                                            <p:txEl>
                                              <p:pRg st="4" end="4"/>
                                            </p:txEl>
                                          </p:spTgt>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grpId="0" nodeType="clickEffect">
                                  <p:stCondLst>
                                    <p:cond delay="0"/>
                                  </p:stCondLst>
                                  <p:childTnLst>
                                    <p:set>
                                      <p:cBhvr>
                                        <p:cTn id="96" dur="1" fill="hold">
                                          <p:stCondLst>
                                            <p:cond delay="0"/>
                                          </p:stCondLst>
                                        </p:cTn>
                                        <p:tgtEl>
                                          <p:spTgt spid="3">
                                            <p:txEl>
                                              <p:pRg st="5" end="5"/>
                                            </p:txEl>
                                          </p:spTgt>
                                        </p:tgtEl>
                                        <p:attrNameLst>
                                          <p:attrName>style.visibility</p:attrName>
                                        </p:attrNameLst>
                                      </p:cBhvr>
                                      <p:to>
                                        <p:strVal val="visible"/>
                                      </p:to>
                                    </p:set>
                                    <p:animEffect transition="in" filter="wipe(down)">
                                      <p:cBhvr>
                                        <p:cTn id="97" dur="580">
                                          <p:stCondLst>
                                            <p:cond delay="0"/>
                                          </p:stCondLst>
                                        </p:cTn>
                                        <p:tgtEl>
                                          <p:spTgt spid="3">
                                            <p:txEl>
                                              <p:pRg st="5" end="5"/>
                                            </p:txEl>
                                          </p:spTgt>
                                        </p:tgtEl>
                                      </p:cBhvr>
                                    </p:animEffect>
                                    <p:anim calcmode="lin" valueType="num">
                                      <p:cBhvr>
                                        <p:cTn id="9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03" dur="26">
                                          <p:stCondLst>
                                            <p:cond delay="650"/>
                                          </p:stCondLst>
                                        </p:cTn>
                                        <p:tgtEl>
                                          <p:spTgt spid="3">
                                            <p:txEl>
                                              <p:pRg st="5" end="5"/>
                                            </p:txEl>
                                          </p:spTgt>
                                        </p:tgtEl>
                                      </p:cBhvr>
                                      <p:to x="100000" y="60000"/>
                                    </p:animScale>
                                    <p:animScale>
                                      <p:cBhvr>
                                        <p:cTn id="104" dur="166" decel="50000">
                                          <p:stCondLst>
                                            <p:cond delay="676"/>
                                          </p:stCondLst>
                                        </p:cTn>
                                        <p:tgtEl>
                                          <p:spTgt spid="3">
                                            <p:txEl>
                                              <p:pRg st="5" end="5"/>
                                            </p:txEl>
                                          </p:spTgt>
                                        </p:tgtEl>
                                      </p:cBhvr>
                                      <p:to x="100000" y="100000"/>
                                    </p:animScale>
                                    <p:animScale>
                                      <p:cBhvr>
                                        <p:cTn id="105" dur="26">
                                          <p:stCondLst>
                                            <p:cond delay="1312"/>
                                          </p:stCondLst>
                                        </p:cTn>
                                        <p:tgtEl>
                                          <p:spTgt spid="3">
                                            <p:txEl>
                                              <p:pRg st="5" end="5"/>
                                            </p:txEl>
                                          </p:spTgt>
                                        </p:tgtEl>
                                      </p:cBhvr>
                                      <p:to x="100000" y="80000"/>
                                    </p:animScale>
                                    <p:animScale>
                                      <p:cBhvr>
                                        <p:cTn id="106" dur="166" decel="50000">
                                          <p:stCondLst>
                                            <p:cond delay="1338"/>
                                          </p:stCondLst>
                                        </p:cTn>
                                        <p:tgtEl>
                                          <p:spTgt spid="3">
                                            <p:txEl>
                                              <p:pRg st="5" end="5"/>
                                            </p:txEl>
                                          </p:spTgt>
                                        </p:tgtEl>
                                      </p:cBhvr>
                                      <p:to x="100000" y="100000"/>
                                    </p:animScale>
                                    <p:animScale>
                                      <p:cBhvr>
                                        <p:cTn id="107" dur="26">
                                          <p:stCondLst>
                                            <p:cond delay="1642"/>
                                          </p:stCondLst>
                                        </p:cTn>
                                        <p:tgtEl>
                                          <p:spTgt spid="3">
                                            <p:txEl>
                                              <p:pRg st="5" end="5"/>
                                            </p:txEl>
                                          </p:spTgt>
                                        </p:tgtEl>
                                      </p:cBhvr>
                                      <p:to x="100000" y="90000"/>
                                    </p:animScale>
                                    <p:animScale>
                                      <p:cBhvr>
                                        <p:cTn id="108" dur="166" decel="50000">
                                          <p:stCondLst>
                                            <p:cond delay="1668"/>
                                          </p:stCondLst>
                                        </p:cTn>
                                        <p:tgtEl>
                                          <p:spTgt spid="3">
                                            <p:txEl>
                                              <p:pRg st="5" end="5"/>
                                            </p:txEl>
                                          </p:spTgt>
                                        </p:tgtEl>
                                      </p:cBhvr>
                                      <p:to x="100000" y="100000"/>
                                    </p:animScale>
                                    <p:animScale>
                                      <p:cBhvr>
                                        <p:cTn id="109" dur="26">
                                          <p:stCondLst>
                                            <p:cond delay="1808"/>
                                          </p:stCondLst>
                                        </p:cTn>
                                        <p:tgtEl>
                                          <p:spTgt spid="3">
                                            <p:txEl>
                                              <p:pRg st="5" end="5"/>
                                            </p:txEl>
                                          </p:spTgt>
                                        </p:tgtEl>
                                      </p:cBhvr>
                                      <p:to x="100000" y="95000"/>
                                    </p:animScale>
                                    <p:animScale>
                                      <p:cBhvr>
                                        <p:cTn id="110" dur="166" decel="50000">
                                          <p:stCondLst>
                                            <p:cond delay="1834"/>
                                          </p:stCondLst>
                                        </p:cTn>
                                        <p:tgtEl>
                                          <p:spTgt spid="3">
                                            <p:txEl>
                                              <p:pRg st="5" end="5"/>
                                            </p:txEl>
                                          </p:spTgt>
                                        </p:tgtEl>
                                      </p:cBhvr>
                                      <p:to x="100000" y="100000"/>
                                    </p:animScale>
                                  </p:childTnLst>
                                </p:cTn>
                              </p:par>
                            </p:childTnLst>
                          </p:cTn>
                        </p:par>
                      </p:childTnLst>
                    </p:cTn>
                  </p:par>
                  <p:par>
                    <p:cTn id="111" fill="hold">
                      <p:stCondLst>
                        <p:cond delay="indefinite"/>
                      </p:stCondLst>
                      <p:childTnLst>
                        <p:par>
                          <p:cTn id="112" fill="hold">
                            <p:stCondLst>
                              <p:cond delay="0"/>
                            </p:stCondLst>
                            <p:childTnLst>
                              <p:par>
                                <p:cTn id="113" presetID="26" presetClass="entr" presetSubtype="0" fill="hold" grpId="0" nodeType="clickEffect">
                                  <p:stCondLst>
                                    <p:cond delay="0"/>
                                  </p:stCondLst>
                                  <p:childTnLst>
                                    <p:set>
                                      <p:cBhvr>
                                        <p:cTn id="114" dur="1" fill="hold">
                                          <p:stCondLst>
                                            <p:cond delay="0"/>
                                          </p:stCondLst>
                                        </p:cTn>
                                        <p:tgtEl>
                                          <p:spTgt spid="3">
                                            <p:txEl>
                                              <p:pRg st="6" end="6"/>
                                            </p:txEl>
                                          </p:spTgt>
                                        </p:tgtEl>
                                        <p:attrNameLst>
                                          <p:attrName>style.visibility</p:attrName>
                                        </p:attrNameLst>
                                      </p:cBhvr>
                                      <p:to>
                                        <p:strVal val="visible"/>
                                      </p:to>
                                    </p:set>
                                    <p:animEffect transition="in" filter="wipe(down)">
                                      <p:cBhvr>
                                        <p:cTn id="115" dur="580">
                                          <p:stCondLst>
                                            <p:cond delay="0"/>
                                          </p:stCondLst>
                                        </p:cTn>
                                        <p:tgtEl>
                                          <p:spTgt spid="3">
                                            <p:txEl>
                                              <p:pRg st="6" end="6"/>
                                            </p:txEl>
                                          </p:spTgt>
                                        </p:tgtEl>
                                      </p:cBhvr>
                                    </p:animEffect>
                                    <p:anim calcmode="lin" valueType="num">
                                      <p:cBhvr>
                                        <p:cTn id="116"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117"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18"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19"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20"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21" dur="26">
                                          <p:stCondLst>
                                            <p:cond delay="650"/>
                                          </p:stCondLst>
                                        </p:cTn>
                                        <p:tgtEl>
                                          <p:spTgt spid="3">
                                            <p:txEl>
                                              <p:pRg st="6" end="6"/>
                                            </p:txEl>
                                          </p:spTgt>
                                        </p:tgtEl>
                                      </p:cBhvr>
                                      <p:to x="100000" y="60000"/>
                                    </p:animScale>
                                    <p:animScale>
                                      <p:cBhvr>
                                        <p:cTn id="122" dur="166" decel="50000">
                                          <p:stCondLst>
                                            <p:cond delay="676"/>
                                          </p:stCondLst>
                                        </p:cTn>
                                        <p:tgtEl>
                                          <p:spTgt spid="3">
                                            <p:txEl>
                                              <p:pRg st="6" end="6"/>
                                            </p:txEl>
                                          </p:spTgt>
                                        </p:tgtEl>
                                      </p:cBhvr>
                                      <p:to x="100000" y="100000"/>
                                    </p:animScale>
                                    <p:animScale>
                                      <p:cBhvr>
                                        <p:cTn id="123" dur="26">
                                          <p:stCondLst>
                                            <p:cond delay="1312"/>
                                          </p:stCondLst>
                                        </p:cTn>
                                        <p:tgtEl>
                                          <p:spTgt spid="3">
                                            <p:txEl>
                                              <p:pRg st="6" end="6"/>
                                            </p:txEl>
                                          </p:spTgt>
                                        </p:tgtEl>
                                      </p:cBhvr>
                                      <p:to x="100000" y="80000"/>
                                    </p:animScale>
                                    <p:animScale>
                                      <p:cBhvr>
                                        <p:cTn id="124" dur="166" decel="50000">
                                          <p:stCondLst>
                                            <p:cond delay="1338"/>
                                          </p:stCondLst>
                                        </p:cTn>
                                        <p:tgtEl>
                                          <p:spTgt spid="3">
                                            <p:txEl>
                                              <p:pRg st="6" end="6"/>
                                            </p:txEl>
                                          </p:spTgt>
                                        </p:tgtEl>
                                      </p:cBhvr>
                                      <p:to x="100000" y="100000"/>
                                    </p:animScale>
                                    <p:animScale>
                                      <p:cBhvr>
                                        <p:cTn id="125" dur="26">
                                          <p:stCondLst>
                                            <p:cond delay="1642"/>
                                          </p:stCondLst>
                                        </p:cTn>
                                        <p:tgtEl>
                                          <p:spTgt spid="3">
                                            <p:txEl>
                                              <p:pRg st="6" end="6"/>
                                            </p:txEl>
                                          </p:spTgt>
                                        </p:tgtEl>
                                      </p:cBhvr>
                                      <p:to x="100000" y="90000"/>
                                    </p:animScale>
                                    <p:animScale>
                                      <p:cBhvr>
                                        <p:cTn id="126" dur="166" decel="50000">
                                          <p:stCondLst>
                                            <p:cond delay="1668"/>
                                          </p:stCondLst>
                                        </p:cTn>
                                        <p:tgtEl>
                                          <p:spTgt spid="3">
                                            <p:txEl>
                                              <p:pRg st="6" end="6"/>
                                            </p:txEl>
                                          </p:spTgt>
                                        </p:tgtEl>
                                      </p:cBhvr>
                                      <p:to x="100000" y="100000"/>
                                    </p:animScale>
                                    <p:animScale>
                                      <p:cBhvr>
                                        <p:cTn id="127" dur="26">
                                          <p:stCondLst>
                                            <p:cond delay="1808"/>
                                          </p:stCondLst>
                                        </p:cTn>
                                        <p:tgtEl>
                                          <p:spTgt spid="3">
                                            <p:txEl>
                                              <p:pRg st="6" end="6"/>
                                            </p:txEl>
                                          </p:spTgt>
                                        </p:tgtEl>
                                      </p:cBhvr>
                                      <p:to x="100000" y="95000"/>
                                    </p:animScale>
                                    <p:animScale>
                                      <p:cBhvr>
                                        <p:cTn id="128" dur="166" decel="50000">
                                          <p:stCondLst>
                                            <p:cond delay="1834"/>
                                          </p:stCondLst>
                                        </p:cTn>
                                        <p:tgtEl>
                                          <p:spTgt spid="3">
                                            <p:txEl>
                                              <p:pRg st="6" end="6"/>
                                            </p:txEl>
                                          </p:spTgt>
                                        </p:tgtEl>
                                      </p:cBhvr>
                                      <p:to x="100000" y="100000"/>
                                    </p:animScale>
                                  </p:childTnLst>
                                </p:cTn>
                              </p:par>
                            </p:childTnLst>
                          </p:cTn>
                        </p:par>
                      </p:childTnLst>
                    </p:cTn>
                  </p:par>
                  <p:par>
                    <p:cTn id="129" fill="hold">
                      <p:stCondLst>
                        <p:cond delay="indefinite"/>
                      </p:stCondLst>
                      <p:childTnLst>
                        <p:par>
                          <p:cTn id="130" fill="hold">
                            <p:stCondLst>
                              <p:cond delay="0"/>
                            </p:stCondLst>
                            <p:childTnLst>
                              <p:par>
                                <p:cTn id="131" presetID="26" presetClass="entr" presetSubtype="0" fill="hold" grpId="0" nodeType="clickEffect">
                                  <p:stCondLst>
                                    <p:cond delay="0"/>
                                  </p:stCondLst>
                                  <p:childTnLst>
                                    <p:set>
                                      <p:cBhvr>
                                        <p:cTn id="132" dur="1" fill="hold">
                                          <p:stCondLst>
                                            <p:cond delay="0"/>
                                          </p:stCondLst>
                                        </p:cTn>
                                        <p:tgtEl>
                                          <p:spTgt spid="3">
                                            <p:txEl>
                                              <p:pRg st="7" end="7"/>
                                            </p:txEl>
                                          </p:spTgt>
                                        </p:tgtEl>
                                        <p:attrNameLst>
                                          <p:attrName>style.visibility</p:attrName>
                                        </p:attrNameLst>
                                      </p:cBhvr>
                                      <p:to>
                                        <p:strVal val="visible"/>
                                      </p:to>
                                    </p:set>
                                    <p:animEffect transition="in" filter="wipe(down)">
                                      <p:cBhvr>
                                        <p:cTn id="133" dur="580">
                                          <p:stCondLst>
                                            <p:cond delay="0"/>
                                          </p:stCondLst>
                                        </p:cTn>
                                        <p:tgtEl>
                                          <p:spTgt spid="3">
                                            <p:txEl>
                                              <p:pRg st="7" end="7"/>
                                            </p:txEl>
                                          </p:spTgt>
                                        </p:tgtEl>
                                      </p:cBhvr>
                                    </p:animEffect>
                                    <p:anim calcmode="lin" valueType="num">
                                      <p:cBhvr>
                                        <p:cTn id="134"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135"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136"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137"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138"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139" dur="26">
                                          <p:stCondLst>
                                            <p:cond delay="650"/>
                                          </p:stCondLst>
                                        </p:cTn>
                                        <p:tgtEl>
                                          <p:spTgt spid="3">
                                            <p:txEl>
                                              <p:pRg st="7" end="7"/>
                                            </p:txEl>
                                          </p:spTgt>
                                        </p:tgtEl>
                                      </p:cBhvr>
                                      <p:to x="100000" y="60000"/>
                                    </p:animScale>
                                    <p:animScale>
                                      <p:cBhvr>
                                        <p:cTn id="140" dur="166" decel="50000">
                                          <p:stCondLst>
                                            <p:cond delay="676"/>
                                          </p:stCondLst>
                                        </p:cTn>
                                        <p:tgtEl>
                                          <p:spTgt spid="3">
                                            <p:txEl>
                                              <p:pRg st="7" end="7"/>
                                            </p:txEl>
                                          </p:spTgt>
                                        </p:tgtEl>
                                      </p:cBhvr>
                                      <p:to x="100000" y="100000"/>
                                    </p:animScale>
                                    <p:animScale>
                                      <p:cBhvr>
                                        <p:cTn id="141" dur="26">
                                          <p:stCondLst>
                                            <p:cond delay="1312"/>
                                          </p:stCondLst>
                                        </p:cTn>
                                        <p:tgtEl>
                                          <p:spTgt spid="3">
                                            <p:txEl>
                                              <p:pRg st="7" end="7"/>
                                            </p:txEl>
                                          </p:spTgt>
                                        </p:tgtEl>
                                      </p:cBhvr>
                                      <p:to x="100000" y="80000"/>
                                    </p:animScale>
                                    <p:animScale>
                                      <p:cBhvr>
                                        <p:cTn id="142" dur="166" decel="50000">
                                          <p:stCondLst>
                                            <p:cond delay="1338"/>
                                          </p:stCondLst>
                                        </p:cTn>
                                        <p:tgtEl>
                                          <p:spTgt spid="3">
                                            <p:txEl>
                                              <p:pRg st="7" end="7"/>
                                            </p:txEl>
                                          </p:spTgt>
                                        </p:tgtEl>
                                      </p:cBhvr>
                                      <p:to x="100000" y="100000"/>
                                    </p:animScale>
                                    <p:animScale>
                                      <p:cBhvr>
                                        <p:cTn id="143" dur="26">
                                          <p:stCondLst>
                                            <p:cond delay="1642"/>
                                          </p:stCondLst>
                                        </p:cTn>
                                        <p:tgtEl>
                                          <p:spTgt spid="3">
                                            <p:txEl>
                                              <p:pRg st="7" end="7"/>
                                            </p:txEl>
                                          </p:spTgt>
                                        </p:tgtEl>
                                      </p:cBhvr>
                                      <p:to x="100000" y="90000"/>
                                    </p:animScale>
                                    <p:animScale>
                                      <p:cBhvr>
                                        <p:cTn id="144" dur="166" decel="50000">
                                          <p:stCondLst>
                                            <p:cond delay="1668"/>
                                          </p:stCondLst>
                                        </p:cTn>
                                        <p:tgtEl>
                                          <p:spTgt spid="3">
                                            <p:txEl>
                                              <p:pRg st="7" end="7"/>
                                            </p:txEl>
                                          </p:spTgt>
                                        </p:tgtEl>
                                      </p:cBhvr>
                                      <p:to x="100000" y="100000"/>
                                    </p:animScale>
                                    <p:animScale>
                                      <p:cBhvr>
                                        <p:cTn id="145" dur="26">
                                          <p:stCondLst>
                                            <p:cond delay="1808"/>
                                          </p:stCondLst>
                                        </p:cTn>
                                        <p:tgtEl>
                                          <p:spTgt spid="3">
                                            <p:txEl>
                                              <p:pRg st="7" end="7"/>
                                            </p:txEl>
                                          </p:spTgt>
                                        </p:tgtEl>
                                      </p:cBhvr>
                                      <p:to x="100000" y="95000"/>
                                    </p:animScale>
                                    <p:animScale>
                                      <p:cBhvr>
                                        <p:cTn id="146" dur="166" decel="50000">
                                          <p:stCondLst>
                                            <p:cond delay="1834"/>
                                          </p:stCondLst>
                                        </p:cTn>
                                        <p:tgtEl>
                                          <p:spTgt spid="3">
                                            <p:txEl>
                                              <p:pRg st="7" end="7"/>
                                            </p:txEl>
                                          </p:spTgt>
                                        </p:tgtEl>
                                      </p:cBhvr>
                                      <p:to x="100000" y="100000"/>
                                    </p:animScale>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2515D0-6DE8-247E-ED73-7C7B63B6316E}"/>
              </a:ext>
            </a:extLst>
          </p:cNvPr>
          <p:cNvSpPr>
            <a:spLocks noGrp="1"/>
          </p:cNvSpPr>
          <p:nvPr>
            <p:ph type="title"/>
          </p:nvPr>
        </p:nvSpPr>
        <p:spPr>
          <a:xfrm>
            <a:off x="1021347" y="0"/>
            <a:ext cx="10146186" cy="3165231"/>
          </a:xfrm>
        </p:spPr>
        <p:txBody>
          <a:bodyPr>
            <a:normAutofit fontScale="90000"/>
          </a:bodyPr>
          <a:lstStyle/>
          <a:p>
            <a:pPr marL="5715" marR="2540" indent="-6350" algn="ctr">
              <a:lnSpc>
                <a:spcPct val="107000"/>
              </a:lnSpc>
              <a:spcAft>
                <a:spcPts val="1485"/>
              </a:spcAft>
            </a:pPr>
            <a:r>
              <a:rPr lang="pt-AO" sz="1800" kern="100" dirty="0">
                <a:solidFill>
                  <a:srgbClr val="000000"/>
                </a:solidFill>
                <a:effectLst/>
                <a:latin typeface="Times New Roman" panose="02020603050405020304" pitchFamily="18" charset="0"/>
                <a:ea typeface="Calibri" panose="020F0502020204030204" pitchFamily="34" charset="0"/>
              </a:rPr>
              <a:t>FACULDADE DE ENGENHARIA E NOVAS TECNOLOGIAS</a:t>
            </a:r>
            <a:br>
              <a:rPr lang="pt-AO" sz="1800" kern="100" dirty="0">
                <a:solidFill>
                  <a:srgbClr val="000000"/>
                </a:solidFill>
                <a:effectLst/>
                <a:latin typeface="Arial" panose="020B0604020202020204" pitchFamily="34" charset="0"/>
                <a:ea typeface="Arial" panose="020B0604020202020204" pitchFamily="34" charset="0"/>
              </a:rPr>
            </a:br>
            <a:r>
              <a:rPr lang="pt-AO" sz="1800" kern="100" dirty="0">
                <a:solidFill>
                  <a:srgbClr val="000000"/>
                </a:solidFill>
                <a:effectLst/>
                <a:latin typeface="Times New Roman" panose="02020603050405020304" pitchFamily="18" charset="0"/>
                <a:ea typeface="Calibri" panose="020F0502020204030204" pitchFamily="34" charset="0"/>
              </a:rPr>
              <a:t>CURSO DE ENGENHARIA INFORMÁTICA</a:t>
            </a:r>
            <a:br>
              <a:rPr lang="pt-AO" sz="1800" kern="100" dirty="0">
                <a:solidFill>
                  <a:srgbClr val="000000"/>
                </a:solidFill>
                <a:effectLst/>
                <a:latin typeface="Arial" panose="020B0604020202020204" pitchFamily="34" charset="0"/>
                <a:ea typeface="Arial" panose="020B0604020202020204" pitchFamily="34" charset="0"/>
              </a:rPr>
            </a:br>
            <a:br>
              <a:rPr lang="pt-PT" sz="1800" kern="100" dirty="0">
                <a:solidFill>
                  <a:srgbClr val="000000"/>
                </a:solidFill>
                <a:effectLst/>
                <a:latin typeface="Arial" panose="020B0604020202020204" pitchFamily="34" charset="0"/>
                <a:ea typeface="Arial" panose="020B0604020202020204" pitchFamily="34" charset="0"/>
              </a:rPr>
            </a:br>
            <a:r>
              <a:rPr lang="pt-AO" sz="2200" b="1" kern="100" dirty="0">
                <a:solidFill>
                  <a:srgbClr val="000000"/>
                </a:solidFill>
                <a:effectLst/>
                <a:latin typeface="Times New Roman" panose="02020603050405020304" pitchFamily="18" charset="0"/>
                <a:ea typeface="Calibri" panose="020F0502020204030204" pitchFamily="34" charset="0"/>
              </a:rPr>
              <a:t>Sistemas Pervasivos </a:t>
            </a:r>
            <a:br>
              <a:rPr lang="pt-AO" sz="2200" b="1" kern="100" dirty="0">
                <a:solidFill>
                  <a:srgbClr val="000000"/>
                </a:solidFill>
                <a:effectLst/>
                <a:latin typeface="Calibri" panose="020F0502020204030204" pitchFamily="34" charset="0"/>
                <a:ea typeface="Calibri" panose="020F0502020204030204" pitchFamily="34" charset="0"/>
              </a:rPr>
            </a:br>
            <a:r>
              <a:rPr lang="pt-AO" sz="2200" kern="100" dirty="0">
                <a:solidFill>
                  <a:srgbClr val="000000"/>
                </a:solidFill>
                <a:effectLst/>
                <a:latin typeface="Times New Roman" panose="02020603050405020304" pitchFamily="18" charset="0"/>
                <a:ea typeface="Calibri" panose="020F0502020204030204" pitchFamily="34" charset="0"/>
              </a:rPr>
              <a:t>Uma análise dos sistemas ubíquos, móveis e de sensores.  </a:t>
            </a:r>
            <a:br>
              <a:rPr lang="pt-AO" sz="2200" kern="100" dirty="0">
                <a:solidFill>
                  <a:srgbClr val="000000"/>
                </a:solidFill>
                <a:effectLst/>
                <a:latin typeface="Arial" panose="020B0604020202020204" pitchFamily="34" charset="0"/>
                <a:ea typeface="Arial" panose="020B0604020202020204" pitchFamily="34" charset="0"/>
              </a:rPr>
            </a:br>
            <a:r>
              <a:rPr lang="pt-AO" sz="1800" kern="100" dirty="0">
                <a:solidFill>
                  <a:srgbClr val="000000"/>
                </a:solidFill>
                <a:effectLst/>
                <a:latin typeface="Times New Roman" panose="02020603050405020304" pitchFamily="18" charset="0"/>
                <a:ea typeface="Calibri" panose="020F0502020204030204" pitchFamily="34" charset="0"/>
              </a:rPr>
              <a:t>  </a:t>
            </a:r>
            <a:br>
              <a:rPr lang="pt-AO" sz="1800" kern="100" dirty="0">
                <a:solidFill>
                  <a:srgbClr val="000000"/>
                </a:solidFill>
                <a:effectLst/>
                <a:latin typeface="Arial" panose="020B0604020202020204" pitchFamily="34" charset="0"/>
                <a:ea typeface="Arial" panose="020B0604020202020204" pitchFamily="34" charset="0"/>
              </a:rPr>
            </a:br>
            <a:r>
              <a:rPr lang="pt-AO" sz="1800" kern="100" dirty="0">
                <a:solidFill>
                  <a:srgbClr val="000000"/>
                </a:solidFill>
                <a:effectLst/>
                <a:latin typeface="Times New Roman" panose="02020603050405020304" pitchFamily="18" charset="0"/>
                <a:ea typeface="Calibri" panose="020F0502020204030204" pitchFamily="34" charset="0"/>
              </a:rPr>
              <a:t>  	  </a:t>
            </a:r>
            <a:br>
              <a:rPr lang="pt-AO" sz="1800" kern="100" dirty="0">
                <a:solidFill>
                  <a:srgbClr val="000000"/>
                </a:solidFill>
                <a:effectLst/>
                <a:latin typeface="Arial" panose="020B0604020202020204" pitchFamily="34" charset="0"/>
                <a:ea typeface="Arial" panose="020B0604020202020204" pitchFamily="34" charset="0"/>
              </a:rPr>
            </a:br>
            <a:r>
              <a:rPr lang="pt-AO" sz="1800" kern="100" dirty="0">
                <a:solidFill>
                  <a:srgbClr val="000000"/>
                </a:solidFill>
                <a:effectLst/>
                <a:latin typeface="Times New Roman" panose="02020603050405020304" pitchFamily="18" charset="0"/>
                <a:ea typeface="Calibri" panose="020F0502020204030204" pitchFamily="34" charset="0"/>
              </a:rPr>
              <a:t> </a:t>
            </a:r>
            <a:br>
              <a:rPr lang="pt-AO" sz="1800" kern="100" dirty="0">
                <a:solidFill>
                  <a:srgbClr val="000000"/>
                </a:solidFill>
                <a:effectLst/>
                <a:latin typeface="Arial" panose="020B0604020202020204" pitchFamily="34" charset="0"/>
                <a:ea typeface="Arial" panose="020B0604020202020204" pitchFamily="34" charset="0"/>
              </a:rPr>
            </a:br>
            <a:r>
              <a:rPr lang="pt-AO" sz="1800" kern="100" dirty="0">
                <a:solidFill>
                  <a:srgbClr val="000000"/>
                </a:solidFill>
                <a:effectLst/>
                <a:latin typeface="Times New Roman" panose="02020603050405020304" pitchFamily="18" charset="0"/>
                <a:ea typeface="Calibri" panose="020F0502020204030204" pitchFamily="34" charset="0"/>
              </a:rPr>
              <a:t> </a:t>
            </a:r>
            <a:br>
              <a:rPr lang="pt-AO" sz="1800" kern="100" dirty="0">
                <a:solidFill>
                  <a:srgbClr val="000000"/>
                </a:solidFill>
                <a:effectLst/>
                <a:latin typeface="Arial" panose="020B0604020202020204" pitchFamily="34" charset="0"/>
                <a:ea typeface="Arial" panose="020B0604020202020204" pitchFamily="34" charset="0"/>
              </a:rPr>
            </a:br>
            <a:endParaRPr lang="pt-AO" dirty="0"/>
          </a:p>
        </p:txBody>
      </p:sp>
      <p:sp>
        <p:nvSpPr>
          <p:cNvPr id="3" name="Espaço Reservado para Texto 2">
            <a:extLst>
              <a:ext uri="{FF2B5EF4-FFF2-40B4-BE49-F238E27FC236}">
                <a16:creationId xmlns:a16="http://schemas.microsoft.com/office/drawing/2014/main" id="{A9D6BB1A-DF5A-0453-1200-BAC8449BE8BB}"/>
              </a:ext>
            </a:extLst>
          </p:cNvPr>
          <p:cNvSpPr>
            <a:spLocks noGrp="1"/>
          </p:cNvSpPr>
          <p:nvPr>
            <p:ph type="body" sz="half" idx="2"/>
          </p:nvPr>
        </p:nvSpPr>
        <p:spPr>
          <a:xfrm>
            <a:off x="1024467" y="2602523"/>
            <a:ext cx="10144654" cy="3798277"/>
          </a:xfrm>
        </p:spPr>
        <p:txBody>
          <a:bodyPr>
            <a:normAutofit/>
          </a:bodyPr>
          <a:lstStyle/>
          <a:p>
            <a:r>
              <a:rPr lang="pt-AO" sz="2000" b="1" u="sng" kern="100" dirty="0">
                <a:solidFill>
                  <a:srgbClr val="000000"/>
                </a:solidFill>
                <a:effectLst/>
                <a:latin typeface="Times New Roman" panose="02020603050405020304" pitchFamily="18" charset="0"/>
                <a:ea typeface="Times New Roman" panose="02020603050405020304" pitchFamily="18" charset="0"/>
              </a:rPr>
              <a:t>Integrantes do Grupo </a:t>
            </a:r>
            <a:endParaRPr lang="pt-PT" sz="2000" b="1" u="sng" kern="100" dirty="0">
              <a:solidFill>
                <a:srgbClr val="000000"/>
              </a:solidFill>
              <a:effectLst/>
              <a:latin typeface="Times New Roman" panose="02020603050405020304" pitchFamily="18" charset="0"/>
              <a:ea typeface="Times New Roman" panose="02020603050405020304" pitchFamily="18" charset="0"/>
            </a:endParaRPr>
          </a:p>
          <a:p>
            <a:pPr marL="342900" indent="-342900">
              <a:buFont typeface="Arial" panose="020B0604020202020204" pitchFamily="34" charset="0"/>
              <a:buChar char="•"/>
            </a:pPr>
            <a:r>
              <a:rPr lang="pt-AO" sz="2000" kern="100" dirty="0">
                <a:solidFill>
                  <a:srgbClr val="000000"/>
                </a:solidFill>
                <a:effectLst/>
                <a:latin typeface="Times New Roman" panose="02020603050405020304" pitchFamily="18" charset="0"/>
                <a:ea typeface="Calibri" panose="020F0502020204030204" pitchFamily="34" charset="0"/>
              </a:rPr>
              <a:t>Edmiro Antonio -210626</a:t>
            </a:r>
            <a:br>
              <a:rPr lang="pt-AO" sz="2000" kern="100" dirty="0">
                <a:solidFill>
                  <a:srgbClr val="000000"/>
                </a:solidFill>
                <a:effectLst/>
                <a:latin typeface="Arial" panose="020B0604020202020204" pitchFamily="34" charset="0"/>
                <a:ea typeface="Times New Roman" panose="02020603050405020304" pitchFamily="18" charset="0"/>
              </a:rPr>
            </a:br>
            <a:endParaRPr lang="pt-PT" sz="2000" kern="100" dirty="0">
              <a:solidFill>
                <a:srgbClr val="000000"/>
              </a:solidFill>
              <a:effectLst/>
              <a:latin typeface="Arial" panose="020B0604020202020204" pitchFamily="34" charset="0"/>
              <a:ea typeface="Times New Roman" panose="02020603050405020304" pitchFamily="18" charset="0"/>
            </a:endParaRPr>
          </a:p>
          <a:p>
            <a:pPr marL="342900" indent="-342900">
              <a:buFont typeface="Arial" panose="020B0604020202020204" pitchFamily="34" charset="0"/>
              <a:buChar char="•"/>
            </a:pPr>
            <a:r>
              <a:rPr lang="pt-AO" sz="2000" kern="100" dirty="0">
                <a:solidFill>
                  <a:srgbClr val="000000"/>
                </a:solidFill>
                <a:effectLst/>
                <a:latin typeface="Times New Roman" panose="02020603050405020304" pitchFamily="18" charset="0"/>
                <a:ea typeface="Times New Roman" panose="02020603050405020304" pitchFamily="18" charset="0"/>
              </a:rPr>
              <a:t>Elisabeth N. Sebastião Samuel -241831</a:t>
            </a:r>
            <a:br>
              <a:rPr lang="pt-AO" sz="2000" kern="100" dirty="0">
                <a:solidFill>
                  <a:srgbClr val="000000"/>
                </a:solidFill>
                <a:effectLst/>
                <a:latin typeface="Arial" panose="020B0604020202020204" pitchFamily="34" charset="0"/>
                <a:ea typeface="Times New Roman" panose="02020603050405020304" pitchFamily="18" charset="0"/>
              </a:rPr>
            </a:br>
            <a:endParaRPr lang="pt-PT" sz="2000" kern="100" dirty="0">
              <a:solidFill>
                <a:srgbClr val="000000"/>
              </a:solidFill>
              <a:effectLst/>
              <a:latin typeface="Arial" panose="020B0604020202020204" pitchFamily="34" charset="0"/>
              <a:ea typeface="Times New Roman" panose="02020603050405020304" pitchFamily="18" charset="0"/>
            </a:endParaRPr>
          </a:p>
          <a:p>
            <a:pPr marL="342900" indent="-342900">
              <a:buFont typeface="Arial" panose="020B0604020202020204" pitchFamily="34" charset="0"/>
              <a:buChar char="•"/>
            </a:pPr>
            <a:r>
              <a:rPr lang="pt-AO" sz="2000" kern="100" dirty="0">
                <a:solidFill>
                  <a:srgbClr val="000000"/>
                </a:solidFill>
                <a:effectLst/>
                <a:latin typeface="Times New Roman" panose="02020603050405020304" pitchFamily="18" charset="0"/>
                <a:ea typeface="Times New Roman" panose="02020603050405020304" pitchFamily="18" charset="0"/>
              </a:rPr>
              <a:t>Tomas Kalemba -221246</a:t>
            </a:r>
            <a:br>
              <a:rPr lang="pt-AO" sz="2000" kern="100" dirty="0">
                <a:solidFill>
                  <a:srgbClr val="000000"/>
                </a:solidFill>
                <a:effectLst/>
                <a:latin typeface="Arial" panose="020B0604020202020204" pitchFamily="34" charset="0"/>
                <a:ea typeface="Times New Roman" panose="02020603050405020304" pitchFamily="18" charset="0"/>
              </a:rPr>
            </a:br>
            <a:endParaRPr lang="pt-PT" sz="2000" kern="100" dirty="0">
              <a:solidFill>
                <a:srgbClr val="000000"/>
              </a:solidFill>
              <a:effectLst/>
              <a:latin typeface="Arial" panose="020B0604020202020204" pitchFamily="34" charset="0"/>
              <a:ea typeface="Times New Roman" panose="02020603050405020304" pitchFamily="18" charset="0"/>
            </a:endParaRPr>
          </a:p>
          <a:p>
            <a:pPr marL="342900" indent="-342900">
              <a:buFont typeface="Arial" panose="020B0604020202020204" pitchFamily="34" charset="0"/>
              <a:buChar char="•"/>
            </a:pPr>
            <a:r>
              <a:rPr lang="pt-AO" sz="2000" kern="100" dirty="0">
                <a:solidFill>
                  <a:srgbClr val="000000"/>
                </a:solidFill>
                <a:effectLst/>
                <a:latin typeface="Times New Roman" panose="02020603050405020304" pitchFamily="18" charset="0"/>
                <a:ea typeface="Times New Roman" panose="02020603050405020304" pitchFamily="18" charset="0"/>
              </a:rPr>
              <a:t>Claver Mbechi -210564</a:t>
            </a:r>
            <a:br>
              <a:rPr lang="pt-AO" sz="2000" kern="100" dirty="0">
                <a:solidFill>
                  <a:srgbClr val="000000"/>
                </a:solidFill>
                <a:effectLst/>
                <a:latin typeface="Arial" panose="020B0604020202020204" pitchFamily="34" charset="0"/>
                <a:ea typeface="Times New Roman" panose="02020603050405020304" pitchFamily="18" charset="0"/>
              </a:rPr>
            </a:br>
            <a:endParaRPr lang="pt-PT" sz="2000" kern="100" dirty="0">
              <a:solidFill>
                <a:srgbClr val="000000"/>
              </a:solidFill>
              <a:effectLst/>
              <a:latin typeface="Arial" panose="020B0604020202020204" pitchFamily="34" charset="0"/>
              <a:ea typeface="Times New Roman" panose="02020603050405020304" pitchFamily="18" charset="0"/>
            </a:endParaRPr>
          </a:p>
          <a:p>
            <a:pPr marL="342900" indent="-342900">
              <a:buFont typeface="Arial" panose="020B0604020202020204" pitchFamily="34" charset="0"/>
              <a:buChar char="•"/>
            </a:pPr>
            <a:r>
              <a:rPr lang="pt-AO" sz="2000" kern="100" dirty="0">
                <a:solidFill>
                  <a:srgbClr val="000000"/>
                </a:solidFill>
                <a:effectLst/>
                <a:latin typeface="Times New Roman" panose="02020603050405020304" pitchFamily="18" charset="0"/>
                <a:ea typeface="Times New Roman" panose="02020603050405020304" pitchFamily="18" charset="0"/>
              </a:rPr>
              <a:t>Dina Ramos-150353</a:t>
            </a:r>
            <a:br>
              <a:rPr lang="pt-AO" sz="2000" kern="100" dirty="0">
                <a:solidFill>
                  <a:srgbClr val="000000"/>
                </a:solidFill>
                <a:effectLst/>
                <a:latin typeface="Arial" panose="020B0604020202020204" pitchFamily="34" charset="0"/>
                <a:ea typeface="Times New Roman" panose="02020603050405020304" pitchFamily="18" charset="0"/>
              </a:rPr>
            </a:br>
            <a:endParaRPr lang="pt-AO" sz="2000" dirty="0"/>
          </a:p>
        </p:txBody>
      </p:sp>
    </p:spTree>
    <p:extLst>
      <p:ext uri="{BB962C8B-B14F-4D97-AF65-F5344CB8AC3E}">
        <p14:creationId xmlns:p14="http://schemas.microsoft.com/office/powerpoint/2010/main" val="2614323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01D715-4D2F-2948-06FB-7D938EF41EF9}"/>
              </a:ext>
            </a:extLst>
          </p:cNvPr>
          <p:cNvSpPr>
            <a:spLocks noGrp="1"/>
          </p:cNvSpPr>
          <p:nvPr>
            <p:ph type="title"/>
          </p:nvPr>
        </p:nvSpPr>
        <p:spPr>
          <a:xfrm>
            <a:off x="234462" y="128955"/>
            <a:ext cx="11271738" cy="1219200"/>
          </a:xfrm>
        </p:spPr>
        <p:txBody>
          <a:bodyPr>
            <a:normAutofit/>
          </a:bodyPr>
          <a:lstStyle/>
          <a:p>
            <a:pPr algn="ctr"/>
            <a:r>
              <a:rPr lang="pt-AO" sz="24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INTRODUÇÃO </a:t>
            </a:r>
            <a:endParaRPr lang="pt-AO" sz="2400" b="1" dirty="0">
              <a:latin typeface="Times New Roman" panose="02020603050405020304" pitchFamily="18" charset="0"/>
              <a:cs typeface="Times New Roman" panose="02020603050405020304" pitchFamily="18" charset="0"/>
            </a:endParaRPr>
          </a:p>
        </p:txBody>
      </p:sp>
      <p:sp>
        <p:nvSpPr>
          <p:cNvPr id="3" name="Espaço Reservado para Conteúdo 2">
            <a:extLst>
              <a:ext uri="{FF2B5EF4-FFF2-40B4-BE49-F238E27FC236}">
                <a16:creationId xmlns:a16="http://schemas.microsoft.com/office/drawing/2014/main" id="{DFFA3996-1B82-2A72-0F73-A951F51AB3E4}"/>
              </a:ext>
            </a:extLst>
          </p:cNvPr>
          <p:cNvSpPr>
            <a:spLocks noGrp="1"/>
          </p:cNvSpPr>
          <p:nvPr>
            <p:ph idx="1"/>
          </p:nvPr>
        </p:nvSpPr>
        <p:spPr>
          <a:xfrm>
            <a:off x="685800" y="1711570"/>
            <a:ext cx="10820400" cy="4507116"/>
          </a:xfrm>
        </p:spPr>
        <p:txBody>
          <a:bodyPr>
            <a:normAutofit fontScale="92500" lnSpcReduction="20000"/>
          </a:bodyPr>
          <a:lstStyle/>
          <a:p>
            <a:pPr marL="8890" marR="2540" indent="457200" algn="just">
              <a:lnSpc>
                <a:spcPct val="150000"/>
              </a:lnSpc>
              <a:spcAft>
                <a:spcPts val="800"/>
              </a:spcAft>
            </a:pPr>
            <a:r>
              <a:rPr lang="pt-AO" sz="1900"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Nos últimos anos, a evolução da tecnologia tem impulsionado mudanças significativas na maneira como as pessoas interagem com os dispositivos e o ambiente ao seu redor. Nesse contexto, surge o conceito de </a:t>
            </a:r>
            <a:r>
              <a:rPr lang="pt-AO" sz="1900" i="1"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sistemas pervasivos</a:t>
            </a:r>
            <a:r>
              <a:rPr lang="pt-AO" sz="1900"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também conhecido como computação pervasiva, que visa a integração quase imperceptível de dispositivos tecnológicos no cotidiano, proporcionando uma experiência fluida e sem interrupções para os usuários. Este paradigma tem como objetivo tornar a tecnologia onipresente, adaptando-se automaticamente ao ambiente e às necessidades dos indivíduos de forma a facilitar tarefas e melhorar a eficiência das atividades diárias. </a:t>
            </a:r>
          </a:p>
          <a:p>
            <a:pPr marL="8890" marR="2540" indent="457200" algn="just">
              <a:lnSpc>
                <a:spcPct val="150000"/>
              </a:lnSpc>
              <a:spcAft>
                <a:spcPts val="800"/>
              </a:spcAft>
            </a:pPr>
            <a:r>
              <a:rPr lang="pt-AO" sz="1900"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Os sistemas pervasivos abrangem três principais subáreas, cada uma com características e desafios próprios: </a:t>
            </a:r>
            <a:r>
              <a:rPr lang="pt-AO" sz="1900" b="1"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sistemas ubíquos</a:t>
            </a:r>
            <a:r>
              <a:rPr lang="pt-AO" sz="1900"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que promovem a presença constante da tecnologia de forma invisível; </a:t>
            </a:r>
            <a:r>
              <a:rPr lang="pt-AO" sz="1900" b="1"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sistemas móveis</a:t>
            </a:r>
            <a:r>
              <a:rPr lang="pt-AO" sz="1900"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que permitem a conectividade e o processamento de informações em movimento; e </a:t>
            </a:r>
            <a:r>
              <a:rPr lang="pt-AO" sz="1900" b="1"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sistemas de sensores</a:t>
            </a:r>
            <a:r>
              <a:rPr lang="pt-AO" sz="1900"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responsáveis por capturar dados do ambiente e possibilitar a comunicação entre dispositivos, criando uma rede de informações em tempo real. </a:t>
            </a:r>
          </a:p>
          <a:p>
            <a:endParaRPr lang="pt-AO" dirty="0"/>
          </a:p>
        </p:txBody>
      </p:sp>
    </p:spTree>
    <p:extLst>
      <p:ext uri="{BB962C8B-B14F-4D97-AF65-F5344CB8AC3E}">
        <p14:creationId xmlns:p14="http://schemas.microsoft.com/office/powerpoint/2010/main" val="3877990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E0E2A330-8D2F-520A-C054-080DAC328940}"/>
              </a:ext>
            </a:extLst>
          </p:cNvPr>
          <p:cNvSpPr>
            <a:spLocks noGrp="1"/>
          </p:cNvSpPr>
          <p:nvPr>
            <p:ph idx="1"/>
          </p:nvPr>
        </p:nvSpPr>
        <p:spPr>
          <a:xfrm>
            <a:off x="685800" y="222738"/>
            <a:ext cx="10820400" cy="5995947"/>
          </a:xfrm>
        </p:spPr>
        <p:txBody>
          <a:bodyPr>
            <a:normAutofit fontScale="85000" lnSpcReduction="10000"/>
          </a:bodyPr>
          <a:lstStyle/>
          <a:p>
            <a:pPr marL="466090" indent="0">
              <a:lnSpc>
                <a:spcPct val="107000"/>
              </a:lnSpc>
              <a:spcAft>
                <a:spcPts val="1385"/>
              </a:spcAft>
              <a:buNone/>
            </a:pPr>
            <a:r>
              <a:rPr lang="pt-AO" sz="1900" b="1" kern="100" dirty="0">
                <a:solidFill>
                  <a:srgbClr val="000000"/>
                </a:solidFill>
                <a:effectLst/>
                <a:latin typeface="Times New Roman" panose="02020603050405020304" pitchFamily="18" charset="0"/>
                <a:ea typeface="Arial" panose="020B0604020202020204" pitchFamily="34" charset="0"/>
              </a:rPr>
              <a:t>Objetivo Geral </a:t>
            </a:r>
            <a:endParaRPr lang="pt-AO" sz="1900" b="1" kern="100" dirty="0">
              <a:solidFill>
                <a:srgbClr val="000000"/>
              </a:solidFill>
              <a:effectLst/>
              <a:latin typeface="Arial" panose="020B0604020202020204" pitchFamily="34" charset="0"/>
              <a:ea typeface="Arial" panose="020B0604020202020204" pitchFamily="34" charset="0"/>
            </a:endParaRPr>
          </a:p>
          <a:p>
            <a:pPr marL="8890" marR="2540" indent="457200" algn="just">
              <a:lnSpc>
                <a:spcPct val="150000"/>
              </a:lnSpc>
              <a:spcAft>
                <a:spcPts val="800"/>
              </a:spcAft>
            </a:pPr>
            <a:r>
              <a:rPr lang="pt-AO" sz="1900" kern="100" dirty="0">
                <a:solidFill>
                  <a:srgbClr val="000000"/>
                </a:solidFill>
                <a:effectLst/>
                <a:latin typeface="Times New Roman" panose="02020603050405020304" pitchFamily="18" charset="0"/>
                <a:ea typeface="Arial" panose="020B0604020202020204" pitchFamily="34" charset="0"/>
              </a:rPr>
              <a:t>Explorar e analisar o conceito de </a:t>
            </a:r>
            <a:r>
              <a:rPr lang="pt-AO" sz="1900" i="1" kern="100" dirty="0">
                <a:solidFill>
                  <a:srgbClr val="000000"/>
                </a:solidFill>
                <a:effectLst/>
                <a:latin typeface="Times New Roman" panose="02020603050405020304" pitchFamily="18" charset="0"/>
                <a:ea typeface="Arial" panose="020B0604020202020204" pitchFamily="34" charset="0"/>
              </a:rPr>
              <a:t>sistemas pervasivos</a:t>
            </a:r>
            <a:r>
              <a:rPr lang="pt-AO" sz="1900" kern="100" dirty="0">
                <a:solidFill>
                  <a:srgbClr val="000000"/>
                </a:solidFill>
                <a:effectLst/>
                <a:latin typeface="Times New Roman" panose="02020603050405020304" pitchFamily="18" charset="0"/>
                <a:ea typeface="Arial" panose="020B0604020202020204" pitchFamily="34" charset="0"/>
              </a:rPr>
              <a:t>, com foco em seus componentes principais — sistemas ubíquos, sistemas móveis e sistemas de sensores —, destacando suas características, aplicações práticas e desafios, a fim de demonstrar a importância e o impacto desses sistemas na modernização tecnológica e na integração com o cotidiano das pessoas. </a:t>
            </a:r>
            <a:endParaRPr lang="pt-AO" sz="1900" kern="100" dirty="0">
              <a:solidFill>
                <a:srgbClr val="000000"/>
              </a:solidFill>
              <a:effectLst/>
              <a:latin typeface="Arial" panose="020B0604020202020204" pitchFamily="34" charset="0"/>
              <a:ea typeface="Arial" panose="020B0604020202020204" pitchFamily="34" charset="0"/>
            </a:endParaRPr>
          </a:p>
          <a:p>
            <a:pPr marL="472440" indent="-6350">
              <a:lnSpc>
                <a:spcPct val="107000"/>
              </a:lnSpc>
              <a:spcAft>
                <a:spcPts val="1385"/>
              </a:spcAft>
            </a:pPr>
            <a:r>
              <a:rPr lang="pt-AO" sz="1900" b="1" kern="100" dirty="0">
                <a:solidFill>
                  <a:srgbClr val="000000"/>
                </a:solidFill>
                <a:effectLst/>
                <a:latin typeface="Times New Roman" panose="02020603050405020304" pitchFamily="18" charset="0"/>
                <a:ea typeface="Arial" panose="020B0604020202020204" pitchFamily="34" charset="0"/>
              </a:rPr>
              <a:t>Objetivos Específicos </a:t>
            </a:r>
            <a:endParaRPr lang="pt-AO" sz="1900" b="1" kern="100" dirty="0">
              <a:solidFill>
                <a:srgbClr val="000000"/>
              </a:solidFill>
              <a:effectLst/>
              <a:latin typeface="Arial" panose="020B0604020202020204" pitchFamily="34" charset="0"/>
              <a:ea typeface="Arial" panose="020B0604020202020204" pitchFamily="34" charset="0"/>
            </a:endParaRPr>
          </a:p>
          <a:p>
            <a:pPr marL="342900" marR="2540" lvl="0" indent="-342900" algn="just" fontAlgn="base">
              <a:lnSpc>
                <a:spcPct val="150000"/>
              </a:lnSpc>
              <a:spcAft>
                <a:spcPts val="800"/>
              </a:spcAft>
              <a:buClr>
                <a:srgbClr val="000000"/>
              </a:buClr>
              <a:buSzPts val="1200"/>
              <a:buFont typeface="Arial" panose="020B0604020202020204" pitchFamily="34" charset="0"/>
              <a:buChar char="❖"/>
            </a:pPr>
            <a:r>
              <a:rPr lang="pt-AO" sz="1900" u="none" strike="noStrike" kern="100" dirty="0">
                <a:solidFill>
                  <a:srgbClr val="000000"/>
                </a:solidFill>
                <a:effectLst/>
                <a:uFill>
                  <a:solidFill>
                    <a:srgbClr val="000000"/>
                  </a:solidFill>
                </a:uFill>
                <a:latin typeface="Times New Roman" panose="02020603050405020304" pitchFamily="18" charset="0"/>
                <a:ea typeface="Wingdings" panose="05000000000000000000" pitchFamily="2" charset="2"/>
                <a:cs typeface="Wingdings" panose="05000000000000000000" pitchFamily="2" charset="2"/>
              </a:rPr>
              <a:t>Descrever as principais características dos sistemas pervasivos, abordando como eles se integram ao ambiente e facilitam a interação humanocomputador. </a:t>
            </a:r>
            <a:endParaRPr lang="pt-AO" sz="1900" u="none" strike="noStrike" kern="100" dirty="0">
              <a:solidFill>
                <a:srgbClr val="000000"/>
              </a:solidFill>
              <a:effectLst/>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a:p>
            <a:pPr marL="342900" marR="2540" lvl="0" indent="-342900" algn="just" fontAlgn="base">
              <a:lnSpc>
                <a:spcPct val="150000"/>
              </a:lnSpc>
              <a:spcAft>
                <a:spcPts val="800"/>
              </a:spcAft>
              <a:buClr>
                <a:srgbClr val="000000"/>
              </a:buClr>
              <a:buSzPts val="1200"/>
              <a:buFont typeface="Arial" panose="020B0604020202020204" pitchFamily="34" charset="0"/>
              <a:buChar char="❖"/>
            </a:pPr>
            <a:r>
              <a:rPr lang="pt-AO" sz="1900" u="none" strike="noStrike" kern="100" dirty="0">
                <a:solidFill>
                  <a:srgbClr val="000000"/>
                </a:solidFill>
                <a:effectLst/>
                <a:uFill>
                  <a:solidFill>
                    <a:srgbClr val="000000"/>
                  </a:solidFill>
                </a:uFill>
                <a:latin typeface="Times New Roman" panose="02020603050405020304" pitchFamily="18" charset="0"/>
                <a:ea typeface="Wingdings" panose="05000000000000000000" pitchFamily="2" charset="2"/>
                <a:cs typeface="Wingdings" panose="05000000000000000000" pitchFamily="2" charset="2"/>
              </a:rPr>
              <a:t>Investigar as aplicações de </a:t>
            </a:r>
            <a:r>
              <a:rPr lang="pt-AO" sz="1900" b="1" u="none" strike="noStrike" kern="100" dirty="0">
                <a:solidFill>
                  <a:srgbClr val="000000"/>
                </a:solidFill>
                <a:effectLst/>
                <a:uFill>
                  <a:solidFill>
                    <a:srgbClr val="000000"/>
                  </a:solidFill>
                </a:uFill>
                <a:latin typeface="Times New Roman" panose="02020603050405020304" pitchFamily="18" charset="0"/>
                <a:ea typeface="Wingdings" panose="05000000000000000000" pitchFamily="2" charset="2"/>
                <a:cs typeface="Wingdings" panose="05000000000000000000" pitchFamily="2" charset="2"/>
              </a:rPr>
              <a:t>sistemas ubíquos</a:t>
            </a:r>
            <a:r>
              <a:rPr lang="pt-AO" sz="1900" u="none" strike="noStrike" kern="100" dirty="0">
                <a:solidFill>
                  <a:srgbClr val="000000"/>
                </a:solidFill>
                <a:effectLst/>
                <a:uFill>
                  <a:solidFill>
                    <a:srgbClr val="000000"/>
                  </a:solidFill>
                </a:uFill>
                <a:latin typeface="Times New Roman" panose="02020603050405020304" pitchFamily="18" charset="0"/>
                <a:ea typeface="Wingdings" panose="05000000000000000000" pitchFamily="2" charset="2"/>
                <a:cs typeface="Wingdings" panose="05000000000000000000" pitchFamily="2" charset="2"/>
              </a:rPr>
              <a:t>, mostrando como eles tornam a tecnologia "invisível" e integrada ao cotidiano. </a:t>
            </a:r>
            <a:endParaRPr lang="pt-AO" sz="1900" u="none" strike="noStrike" kern="100" dirty="0">
              <a:solidFill>
                <a:srgbClr val="000000"/>
              </a:solidFill>
              <a:effectLst/>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a:p>
            <a:pPr marL="342900" marR="2540" lvl="0" indent="-342900" algn="just" fontAlgn="base">
              <a:lnSpc>
                <a:spcPct val="150000"/>
              </a:lnSpc>
              <a:spcAft>
                <a:spcPts val="800"/>
              </a:spcAft>
              <a:buClr>
                <a:srgbClr val="000000"/>
              </a:buClr>
              <a:buSzPts val="1200"/>
              <a:buFont typeface="Arial" panose="020B0604020202020204" pitchFamily="34" charset="0"/>
              <a:buChar char="❖"/>
            </a:pPr>
            <a:r>
              <a:rPr lang="pt-AO" sz="1900" u="none" strike="noStrike" kern="100" dirty="0">
                <a:solidFill>
                  <a:srgbClr val="000000"/>
                </a:solidFill>
                <a:effectLst/>
                <a:uFill>
                  <a:solidFill>
                    <a:srgbClr val="000000"/>
                  </a:solidFill>
                </a:uFill>
                <a:latin typeface="Times New Roman" panose="02020603050405020304" pitchFamily="18" charset="0"/>
                <a:ea typeface="Wingdings" panose="05000000000000000000" pitchFamily="2" charset="2"/>
                <a:cs typeface="Wingdings" panose="05000000000000000000" pitchFamily="2" charset="2"/>
              </a:rPr>
              <a:t>Analisar os </a:t>
            </a:r>
            <a:r>
              <a:rPr lang="pt-AO" sz="1900" b="1" u="none" strike="noStrike" kern="100" dirty="0">
                <a:solidFill>
                  <a:srgbClr val="000000"/>
                </a:solidFill>
                <a:effectLst/>
                <a:uFill>
                  <a:solidFill>
                    <a:srgbClr val="000000"/>
                  </a:solidFill>
                </a:uFill>
                <a:latin typeface="Times New Roman" panose="02020603050405020304" pitchFamily="18" charset="0"/>
                <a:ea typeface="Wingdings" panose="05000000000000000000" pitchFamily="2" charset="2"/>
                <a:cs typeface="Wingdings" panose="05000000000000000000" pitchFamily="2" charset="2"/>
              </a:rPr>
              <a:t>sistemas móveis</a:t>
            </a:r>
            <a:r>
              <a:rPr lang="pt-PT" sz="1900" u="none" strike="noStrike" kern="100" dirty="0">
                <a:solidFill>
                  <a:srgbClr val="000000"/>
                </a:solidFill>
                <a:effectLst/>
                <a:uFill>
                  <a:solidFill>
                    <a:srgbClr val="000000"/>
                  </a:solidFill>
                </a:uFill>
                <a:latin typeface="Times New Roman" panose="02020603050405020304" pitchFamily="18" charset="0"/>
                <a:ea typeface="Wingdings" panose="05000000000000000000" pitchFamily="2" charset="2"/>
                <a:cs typeface="Wingdings" panose="05000000000000000000" pitchFamily="2" charset="2"/>
              </a:rPr>
              <a:t> e </a:t>
            </a:r>
            <a:r>
              <a:rPr lang="pt-AO" sz="1900" b="1" u="none" strike="noStrike" kern="100" dirty="0">
                <a:solidFill>
                  <a:srgbClr val="000000"/>
                </a:solidFill>
                <a:effectLst/>
                <a:uFill>
                  <a:solidFill>
                    <a:srgbClr val="000000"/>
                  </a:solidFill>
                </a:uFill>
                <a:latin typeface="Times New Roman" panose="02020603050405020304" pitchFamily="18" charset="0"/>
                <a:ea typeface="Wingdings" panose="05000000000000000000" pitchFamily="2" charset="2"/>
                <a:cs typeface="Wingdings" panose="05000000000000000000" pitchFamily="2" charset="2"/>
              </a:rPr>
              <a:t>sistemas de sensores</a:t>
            </a:r>
            <a:r>
              <a:rPr lang="pt-PT" sz="1900" b="1" u="none" strike="noStrike" kern="100" dirty="0">
                <a:solidFill>
                  <a:srgbClr val="000000"/>
                </a:solidFill>
                <a:effectLst/>
                <a:uFill>
                  <a:solidFill>
                    <a:srgbClr val="000000"/>
                  </a:solidFill>
                </a:uFill>
                <a:latin typeface="Times New Roman" panose="02020603050405020304" pitchFamily="18" charset="0"/>
                <a:ea typeface="Wingdings" panose="05000000000000000000" pitchFamily="2" charset="2"/>
                <a:cs typeface="Wingdings" panose="05000000000000000000" pitchFamily="2" charset="2"/>
              </a:rPr>
              <a:t>,</a:t>
            </a:r>
            <a:r>
              <a:rPr lang="pt-PT" sz="1900" u="none" strike="noStrike" kern="100" dirty="0">
                <a:solidFill>
                  <a:srgbClr val="000000"/>
                </a:solidFill>
                <a:effectLst/>
                <a:uFill>
                  <a:solidFill>
                    <a:srgbClr val="000000"/>
                  </a:solidFill>
                </a:uFill>
                <a:latin typeface="Times New Roman" panose="02020603050405020304" pitchFamily="18" charset="0"/>
                <a:ea typeface="Wingdings" panose="05000000000000000000" pitchFamily="2" charset="2"/>
                <a:cs typeface="Wingdings" panose="05000000000000000000" pitchFamily="2" charset="2"/>
              </a:rPr>
              <a:t> </a:t>
            </a:r>
            <a:r>
              <a:rPr lang="pt-AO" sz="1900" u="none" strike="noStrike" kern="100" dirty="0">
                <a:solidFill>
                  <a:srgbClr val="000000"/>
                </a:solidFill>
                <a:effectLst/>
                <a:uFill>
                  <a:solidFill>
                    <a:srgbClr val="000000"/>
                  </a:solidFill>
                </a:uFill>
                <a:latin typeface="Times New Roman" panose="02020603050405020304" pitchFamily="18" charset="0"/>
                <a:ea typeface="Wingdings" panose="05000000000000000000" pitchFamily="2" charset="2"/>
                <a:cs typeface="Wingdings" panose="05000000000000000000" pitchFamily="2" charset="2"/>
              </a:rPr>
              <a:t>enfocando a mobilidade e a conectividade contínua,</a:t>
            </a:r>
            <a:r>
              <a:rPr lang="pt-PT" sz="1900" u="none" strike="noStrike" kern="100" dirty="0">
                <a:solidFill>
                  <a:srgbClr val="000000"/>
                </a:solidFill>
                <a:effectLst/>
                <a:uFill>
                  <a:solidFill>
                    <a:srgbClr val="000000"/>
                  </a:solidFill>
                </a:uFill>
                <a:latin typeface="Times New Roman" panose="02020603050405020304" pitchFamily="18" charset="0"/>
                <a:ea typeface="Wingdings" panose="05000000000000000000" pitchFamily="2" charset="2"/>
                <a:cs typeface="Wingdings" panose="05000000000000000000" pitchFamily="2" charset="2"/>
              </a:rPr>
              <a:t> e </a:t>
            </a:r>
            <a:r>
              <a:rPr lang="pt-AO" sz="1900" u="none" strike="noStrike" kern="100" dirty="0">
                <a:solidFill>
                  <a:srgbClr val="000000"/>
                </a:solidFill>
                <a:effectLst/>
                <a:uFill>
                  <a:solidFill>
                    <a:srgbClr val="000000"/>
                  </a:solidFill>
                </a:uFill>
                <a:latin typeface="Times New Roman" panose="02020603050405020304" pitchFamily="18" charset="0"/>
                <a:ea typeface="Wingdings" panose="05000000000000000000" pitchFamily="2" charset="2"/>
                <a:cs typeface="Wingdings" panose="05000000000000000000" pitchFamily="2" charset="2"/>
              </a:rPr>
              <a:t>no monitoramento de dados e na comunicação entre dispositivos em tempo real. </a:t>
            </a:r>
            <a:endParaRPr lang="pt-AO" sz="1900" u="none" strike="noStrike" kern="100" dirty="0">
              <a:solidFill>
                <a:srgbClr val="000000"/>
              </a:solidFill>
              <a:effectLst/>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a:p>
            <a:pPr marL="342900" marR="2540" lvl="0" indent="-342900" algn="just" fontAlgn="base">
              <a:lnSpc>
                <a:spcPct val="150000"/>
              </a:lnSpc>
              <a:spcAft>
                <a:spcPts val="800"/>
              </a:spcAft>
              <a:buClr>
                <a:srgbClr val="000000"/>
              </a:buClr>
              <a:buSzPts val="1200"/>
              <a:buFont typeface="Arial" panose="020B0604020202020204" pitchFamily="34" charset="0"/>
              <a:buChar char="❖"/>
            </a:pPr>
            <a:r>
              <a:rPr lang="pt-AO" sz="1900" u="none" strike="noStrike" kern="100" dirty="0">
                <a:solidFill>
                  <a:srgbClr val="000000"/>
                </a:solidFill>
                <a:effectLst/>
                <a:uFill>
                  <a:solidFill>
                    <a:srgbClr val="000000"/>
                  </a:solidFill>
                </a:uFill>
                <a:latin typeface="Times New Roman" panose="02020603050405020304" pitchFamily="18" charset="0"/>
                <a:ea typeface="Wingdings" panose="05000000000000000000" pitchFamily="2" charset="2"/>
                <a:cs typeface="Wingdings" panose="05000000000000000000" pitchFamily="2" charset="2"/>
              </a:rPr>
              <a:t>Discutir as vantagens e limitações de cada um desses sistemas, destacando os impactos tecnológicos e sociais dos sistemas pervasivos no futuro. </a:t>
            </a:r>
            <a:endParaRPr lang="pt-AO" sz="1900" u="none" strike="noStrike" kern="100" dirty="0">
              <a:solidFill>
                <a:srgbClr val="000000"/>
              </a:solidFill>
              <a:effectLst/>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a:p>
            <a:pPr marL="231140" marR="2540" indent="0" algn="l">
              <a:lnSpc>
                <a:spcPct val="107000"/>
              </a:lnSpc>
              <a:spcAft>
                <a:spcPts val="1380"/>
              </a:spcAft>
              <a:buNone/>
            </a:pPr>
            <a:endParaRPr lang="pt-AO" sz="1800" kern="100" dirty="0">
              <a:solidFill>
                <a:srgbClr val="000000"/>
              </a:solidFill>
              <a:effectLst/>
              <a:latin typeface="Arial" panose="020B0604020202020204" pitchFamily="34" charset="0"/>
              <a:ea typeface="Arial" panose="020B0604020202020204" pitchFamily="34" charset="0"/>
            </a:endParaRPr>
          </a:p>
          <a:p>
            <a:endParaRPr lang="pt-AO" dirty="0"/>
          </a:p>
        </p:txBody>
      </p:sp>
    </p:spTree>
    <p:extLst>
      <p:ext uri="{BB962C8B-B14F-4D97-AF65-F5344CB8AC3E}">
        <p14:creationId xmlns:p14="http://schemas.microsoft.com/office/powerpoint/2010/main" val="2609780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300814-97E0-7884-6E5E-4D66098740E4}"/>
              </a:ext>
            </a:extLst>
          </p:cNvPr>
          <p:cNvSpPr>
            <a:spLocks noGrp="1"/>
          </p:cNvSpPr>
          <p:nvPr>
            <p:ph type="title"/>
          </p:nvPr>
        </p:nvSpPr>
        <p:spPr>
          <a:xfrm>
            <a:off x="685800" y="764373"/>
            <a:ext cx="10820400" cy="1293028"/>
          </a:xfrm>
        </p:spPr>
        <p:txBody>
          <a:bodyPr/>
          <a:lstStyle/>
          <a:p>
            <a:pPr algn="l"/>
            <a:r>
              <a:rPr lang="pt-AO" sz="1800" dirty="0">
                <a:solidFill>
                  <a:srgbClr val="000000"/>
                </a:solidFill>
                <a:effectLst/>
                <a:latin typeface="Times New Roman" panose="02020603050405020304" pitchFamily="18" charset="0"/>
                <a:ea typeface="Arial" panose="020B0604020202020204" pitchFamily="34" charset="0"/>
              </a:rPr>
              <a:t>Definição e Importância </a:t>
            </a:r>
            <a:endParaRPr lang="pt-AO" dirty="0"/>
          </a:p>
        </p:txBody>
      </p:sp>
      <p:sp>
        <p:nvSpPr>
          <p:cNvPr id="3" name="Espaço Reservado para Conteúdo 2">
            <a:extLst>
              <a:ext uri="{FF2B5EF4-FFF2-40B4-BE49-F238E27FC236}">
                <a16:creationId xmlns:a16="http://schemas.microsoft.com/office/drawing/2014/main" id="{EE164D23-FDF7-5389-7832-0E4552F23B5A}"/>
              </a:ext>
            </a:extLst>
          </p:cNvPr>
          <p:cNvSpPr>
            <a:spLocks noGrp="1"/>
          </p:cNvSpPr>
          <p:nvPr>
            <p:ph sz="half" idx="1"/>
          </p:nvPr>
        </p:nvSpPr>
        <p:spPr/>
        <p:txBody>
          <a:bodyPr>
            <a:normAutofit fontScale="70000" lnSpcReduction="20000"/>
          </a:bodyPr>
          <a:lstStyle/>
          <a:p>
            <a:pPr marL="8890" marR="2540" indent="457200" algn="just">
              <a:lnSpc>
                <a:spcPct val="150000"/>
              </a:lnSpc>
              <a:spcAft>
                <a:spcPts val="800"/>
              </a:spcAft>
            </a:pPr>
            <a:r>
              <a:rPr lang="pt-AO" sz="1800" kern="100" dirty="0">
                <a:solidFill>
                  <a:srgbClr val="000000"/>
                </a:solidFill>
                <a:effectLst/>
                <a:latin typeface="Times New Roman" panose="02020603050405020304" pitchFamily="18" charset="0"/>
                <a:ea typeface="Arial" panose="020B0604020202020204" pitchFamily="34" charset="0"/>
              </a:rPr>
              <a:t>Os sistemas pervasivos são caracterizados pela presença constante e integrada de dispositivos tecnológicos no ambiente. Esses dispositivos, conectados entre si, podem coletar, processar e transmitir dados para oferecer serviços personalizados e contextuais. Essa tecnologia é essencial para o desenvolvimento de </a:t>
            </a:r>
            <a:r>
              <a:rPr lang="pt-AO" sz="1800" b="1" kern="100" dirty="0">
                <a:solidFill>
                  <a:srgbClr val="000000"/>
                </a:solidFill>
                <a:effectLst/>
                <a:latin typeface="Times New Roman" panose="02020603050405020304" pitchFamily="18" charset="0"/>
                <a:ea typeface="Arial" panose="020B0604020202020204" pitchFamily="34" charset="0"/>
              </a:rPr>
              <a:t>ambientes inteligentes</a:t>
            </a:r>
            <a:r>
              <a:rPr lang="pt-AO" sz="1800" kern="100" dirty="0">
                <a:solidFill>
                  <a:srgbClr val="000000"/>
                </a:solidFill>
                <a:effectLst/>
                <a:latin typeface="Times New Roman" panose="02020603050405020304" pitchFamily="18" charset="0"/>
                <a:ea typeface="Arial" panose="020B0604020202020204" pitchFamily="34" charset="0"/>
              </a:rPr>
              <a:t>, nos quais o próprio ambiente responde de forma proativa às necessidades dos usuários, muitas vezes sem que eles percebam a intervenção da tecnologia. </a:t>
            </a:r>
            <a:endParaRPr lang="pt-AO" sz="1800" kern="100" dirty="0">
              <a:solidFill>
                <a:srgbClr val="000000"/>
              </a:solidFill>
              <a:effectLst/>
              <a:latin typeface="Arial" panose="020B0604020202020204" pitchFamily="34" charset="0"/>
              <a:ea typeface="Arial" panose="020B0604020202020204" pitchFamily="34" charset="0"/>
            </a:endParaRPr>
          </a:p>
          <a:p>
            <a:pPr marL="8890" marR="2540" indent="457200" algn="just">
              <a:lnSpc>
                <a:spcPct val="150000"/>
              </a:lnSpc>
              <a:spcAft>
                <a:spcPts val="800"/>
              </a:spcAft>
            </a:pPr>
            <a:r>
              <a:rPr lang="pt-AO" sz="1800" kern="100" dirty="0">
                <a:solidFill>
                  <a:srgbClr val="000000"/>
                </a:solidFill>
                <a:effectLst/>
                <a:latin typeface="Times New Roman" panose="02020603050405020304" pitchFamily="18" charset="0"/>
                <a:ea typeface="Arial" panose="020B0604020202020204" pitchFamily="34" charset="0"/>
              </a:rPr>
              <a:t>A importância dos sistemas pervasivos está ligada ao seu potencial de transformar a experiência humana com a tecnologia. Em áreas como saúde, por exemplo, sistemas pervasivos podem monitorar constantemente sinais vitais, permitindo diagnósticos e intervenções precoces. Na indústria, sensores e dispositivos móveis colaboram para monitorar máquinas, prevenir falhas e otimizar a produtividade. </a:t>
            </a:r>
            <a:endParaRPr lang="pt-AO" sz="1800" kern="100" dirty="0">
              <a:solidFill>
                <a:srgbClr val="000000"/>
              </a:solidFill>
              <a:effectLst/>
              <a:latin typeface="Arial" panose="020B0604020202020204" pitchFamily="34" charset="0"/>
              <a:ea typeface="Arial" panose="020B0604020202020204" pitchFamily="34" charset="0"/>
            </a:endParaRPr>
          </a:p>
          <a:p>
            <a:endParaRPr lang="pt-AO" dirty="0"/>
          </a:p>
        </p:txBody>
      </p:sp>
      <p:pic>
        <p:nvPicPr>
          <p:cNvPr id="6" name="Imagem 5">
            <a:extLst>
              <a:ext uri="{FF2B5EF4-FFF2-40B4-BE49-F238E27FC236}">
                <a16:creationId xmlns:a16="http://schemas.microsoft.com/office/drawing/2014/main" id="{FA0E31DC-8708-3D52-5A2D-C7C78A760E45}"/>
              </a:ext>
            </a:extLst>
          </p:cNvPr>
          <p:cNvPicPr>
            <a:picLocks noChangeAspect="1"/>
          </p:cNvPicPr>
          <p:nvPr/>
        </p:nvPicPr>
        <p:blipFill>
          <a:blip r:embed="rId2"/>
          <a:stretch>
            <a:fillRect/>
          </a:stretch>
        </p:blipFill>
        <p:spPr>
          <a:xfrm>
            <a:off x="8897815" y="2298497"/>
            <a:ext cx="3188677" cy="3571278"/>
          </a:xfrm>
          <a:prstGeom prst="rect">
            <a:avLst/>
          </a:prstGeom>
        </p:spPr>
      </p:pic>
      <p:pic>
        <p:nvPicPr>
          <p:cNvPr id="9" name="Espaço Reservado para Conteúdo 8">
            <a:extLst>
              <a:ext uri="{FF2B5EF4-FFF2-40B4-BE49-F238E27FC236}">
                <a16:creationId xmlns:a16="http://schemas.microsoft.com/office/drawing/2014/main" id="{E34DDE57-82B0-559A-7624-61B6D2EAAF71}"/>
              </a:ext>
            </a:extLst>
          </p:cNvPr>
          <p:cNvPicPr>
            <a:picLocks noGrp="1" noChangeAspect="1"/>
          </p:cNvPicPr>
          <p:nvPr>
            <p:ph sz="half" idx="2"/>
          </p:nvPr>
        </p:nvPicPr>
        <p:blipFill>
          <a:blip r:embed="rId3"/>
          <a:stretch>
            <a:fillRect/>
          </a:stretch>
        </p:blipFill>
        <p:spPr>
          <a:xfrm>
            <a:off x="6172202" y="2298497"/>
            <a:ext cx="2584936" cy="3571278"/>
          </a:xfrm>
        </p:spPr>
      </p:pic>
    </p:spTree>
    <p:extLst>
      <p:ext uri="{BB962C8B-B14F-4D97-AF65-F5344CB8AC3E}">
        <p14:creationId xmlns:p14="http://schemas.microsoft.com/office/powerpoint/2010/main" val="2793197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F0D1C6-20BE-5BAE-230E-8C25E1432A67}"/>
              </a:ext>
            </a:extLst>
          </p:cNvPr>
          <p:cNvSpPr>
            <a:spLocks noGrp="1"/>
          </p:cNvSpPr>
          <p:nvPr>
            <p:ph type="title"/>
          </p:nvPr>
        </p:nvSpPr>
        <p:spPr>
          <a:xfrm>
            <a:off x="685800" y="761999"/>
            <a:ext cx="10820400" cy="1303867"/>
          </a:xfrm>
        </p:spPr>
        <p:txBody>
          <a:bodyPr/>
          <a:lstStyle/>
          <a:p>
            <a:pPr algn="ctr"/>
            <a:r>
              <a:rPr lang="pt-AO" sz="1800" dirty="0">
                <a:solidFill>
                  <a:srgbClr val="000000"/>
                </a:solidFill>
                <a:effectLst/>
                <a:latin typeface="Times New Roman" panose="02020603050405020304" pitchFamily="18" charset="0"/>
                <a:ea typeface="Arial" panose="020B0604020202020204" pitchFamily="34" charset="0"/>
              </a:rPr>
              <a:t>Aplicações </a:t>
            </a:r>
            <a:endParaRPr lang="pt-AO" dirty="0"/>
          </a:p>
        </p:txBody>
      </p:sp>
      <p:sp>
        <p:nvSpPr>
          <p:cNvPr id="3" name="Espaço Reservado para Texto 2">
            <a:extLst>
              <a:ext uri="{FF2B5EF4-FFF2-40B4-BE49-F238E27FC236}">
                <a16:creationId xmlns:a16="http://schemas.microsoft.com/office/drawing/2014/main" id="{3CB08AA2-A2A2-CF48-0033-A326936DF309}"/>
              </a:ext>
            </a:extLst>
          </p:cNvPr>
          <p:cNvSpPr>
            <a:spLocks noGrp="1"/>
          </p:cNvSpPr>
          <p:nvPr>
            <p:ph type="body" idx="1"/>
          </p:nvPr>
        </p:nvSpPr>
        <p:spPr/>
        <p:txBody>
          <a:bodyPr/>
          <a:lstStyle/>
          <a:p>
            <a:pPr algn="ctr"/>
            <a:r>
              <a:rPr lang="pt-AO" sz="1800" b="1" dirty="0">
                <a:solidFill>
                  <a:srgbClr val="000000"/>
                </a:solidFill>
                <a:effectLst/>
                <a:latin typeface="Times New Roman" panose="02020603050405020304" pitchFamily="18" charset="0"/>
                <a:ea typeface="Arial" panose="020B0604020202020204" pitchFamily="34" charset="0"/>
              </a:rPr>
              <a:t>Casas Inteligentes</a:t>
            </a:r>
            <a:endParaRPr lang="pt-AO" dirty="0"/>
          </a:p>
        </p:txBody>
      </p:sp>
      <p:sp>
        <p:nvSpPr>
          <p:cNvPr id="4" name="Espaço Reservado para Texto 3">
            <a:extLst>
              <a:ext uri="{FF2B5EF4-FFF2-40B4-BE49-F238E27FC236}">
                <a16:creationId xmlns:a16="http://schemas.microsoft.com/office/drawing/2014/main" id="{CB7FF16A-FF5B-D716-DB76-6A1583AA50BA}"/>
              </a:ext>
            </a:extLst>
          </p:cNvPr>
          <p:cNvSpPr>
            <a:spLocks noGrp="1"/>
          </p:cNvSpPr>
          <p:nvPr>
            <p:ph type="body" sz="half" idx="15"/>
          </p:nvPr>
        </p:nvSpPr>
        <p:spPr/>
        <p:txBody>
          <a:bodyPr/>
          <a:lstStyle/>
          <a:p>
            <a:endParaRPr lang="pt-AO" dirty="0"/>
          </a:p>
        </p:txBody>
      </p:sp>
      <p:sp>
        <p:nvSpPr>
          <p:cNvPr id="5" name="Espaço Reservado para Texto 4">
            <a:extLst>
              <a:ext uri="{FF2B5EF4-FFF2-40B4-BE49-F238E27FC236}">
                <a16:creationId xmlns:a16="http://schemas.microsoft.com/office/drawing/2014/main" id="{8F8AF7EB-1C33-BA1E-4511-BF5FC10EACD3}"/>
              </a:ext>
            </a:extLst>
          </p:cNvPr>
          <p:cNvSpPr>
            <a:spLocks noGrp="1"/>
          </p:cNvSpPr>
          <p:nvPr>
            <p:ph type="body" sz="quarter" idx="3"/>
          </p:nvPr>
        </p:nvSpPr>
        <p:spPr/>
        <p:txBody>
          <a:bodyPr/>
          <a:lstStyle/>
          <a:p>
            <a:pPr algn="ctr"/>
            <a:r>
              <a:rPr lang="pt-AO" sz="1800" b="1" dirty="0">
                <a:solidFill>
                  <a:srgbClr val="000000"/>
                </a:solidFill>
                <a:effectLst/>
                <a:latin typeface="Times New Roman" panose="02020603050405020304" pitchFamily="18" charset="0"/>
                <a:ea typeface="Arial" panose="020B0604020202020204" pitchFamily="34" charset="0"/>
              </a:rPr>
              <a:t>Cidades Inteligentes</a:t>
            </a:r>
            <a:endParaRPr lang="pt-AO" dirty="0"/>
          </a:p>
        </p:txBody>
      </p:sp>
      <p:sp>
        <p:nvSpPr>
          <p:cNvPr id="6" name="Espaço Reservado para Texto 5">
            <a:extLst>
              <a:ext uri="{FF2B5EF4-FFF2-40B4-BE49-F238E27FC236}">
                <a16:creationId xmlns:a16="http://schemas.microsoft.com/office/drawing/2014/main" id="{D53DDFAB-538A-CACD-A508-8844D46A4D3B}"/>
              </a:ext>
            </a:extLst>
          </p:cNvPr>
          <p:cNvSpPr>
            <a:spLocks noGrp="1"/>
          </p:cNvSpPr>
          <p:nvPr>
            <p:ph type="body" sz="half" idx="16"/>
          </p:nvPr>
        </p:nvSpPr>
        <p:spPr/>
        <p:txBody>
          <a:bodyPr/>
          <a:lstStyle/>
          <a:p>
            <a:endParaRPr lang="pt-AO" dirty="0"/>
          </a:p>
          <a:p>
            <a:endParaRPr lang="pt-AO" dirty="0"/>
          </a:p>
        </p:txBody>
      </p:sp>
      <p:sp>
        <p:nvSpPr>
          <p:cNvPr id="7" name="Espaço Reservado para Texto 6">
            <a:extLst>
              <a:ext uri="{FF2B5EF4-FFF2-40B4-BE49-F238E27FC236}">
                <a16:creationId xmlns:a16="http://schemas.microsoft.com/office/drawing/2014/main" id="{F5888307-325F-DE73-EC7F-2E269FA114FC}"/>
              </a:ext>
            </a:extLst>
          </p:cNvPr>
          <p:cNvSpPr>
            <a:spLocks noGrp="1"/>
          </p:cNvSpPr>
          <p:nvPr>
            <p:ph type="body" sz="quarter" idx="13"/>
          </p:nvPr>
        </p:nvSpPr>
        <p:spPr/>
        <p:txBody>
          <a:bodyPr/>
          <a:lstStyle/>
          <a:p>
            <a:pPr algn="ctr"/>
            <a:r>
              <a:rPr lang="pt-AO" sz="1800" b="1" dirty="0">
                <a:solidFill>
                  <a:srgbClr val="000000"/>
                </a:solidFill>
                <a:effectLst/>
                <a:latin typeface="Times New Roman" panose="02020603050405020304" pitchFamily="18" charset="0"/>
                <a:ea typeface="Arial" panose="020B0604020202020204" pitchFamily="34" charset="0"/>
              </a:rPr>
              <a:t>Saúde</a:t>
            </a:r>
            <a:endParaRPr lang="pt-AO" dirty="0"/>
          </a:p>
        </p:txBody>
      </p:sp>
      <p:sp>
        <p:nvSpPr>
          <p:cNvPr id="8" name="Espaço Reservado para Texto 7">
            <a:extLst>
              <a:ext uri="{FF2B5EF4-FFF2-40B4-BE49-F238E27FC236}">
                <a16:creationId xmlns:a16="http://schemas.microsoft.com/office/drawing/2014/main" id="{DBCDABAD-68EA-111D-D5DC-9788EDF1F6DE}"/>
              </a:ext>
            </a:extLst>
          </p:cNvPr>
          <p:cNvSpPr>
            <a:spLocks noGrp="1"/>
          </p:cNvSpPr>
          <p:nvPr>
            <p:ph type="body" sz="half" idx="17"/>
          </p:nvPr>
        </p:nvSpPr>
        <p:spPr/>
        <p:txBody>
          <a:bodyPr/>
          <a:lstStyle/>
          <a:p>
            <a:endParaRPr lang="pt-AO" dirty="0"/>
          </a:p>
          <a:p>
            <a:endParaRPr lang="pt-AO" dirty="0"/>
          </a:p>
        </p:txBody>
      </p:sp>
      <p:pic>
        <p:nvPicPr>
          <p:cNvPr id="10" name="Imagem 9">
            <a:extLst>
              <a:ext uri="{FF2B5EF4-FFF2-40B4-BE49-F238E27FC236}">
                <a16:creationId xmlns:a16="http://schemas.microsoft.com/office/drawing/2014/main" id="{2E8BE3CF-FA9D-73D3-4E90-4BFB76368ECC}"/>
              </a:ext>
            </a:extLst>
          </p:cNvPr>
          <p:cNvPicPr>
            <a:picLocks noChangeAspect="1"/>
          </p:cNvPicPr>
          <p:nvPr/>
        </p:nvPicPr>
        <p:blipFill>
          <a:blip r:embed="rId2"/>
          <a:stretch>
            <a:fillRect/>
          </a:stretch>
        </p:blipFill>
        <p:spPr>
          <a:xfrm>
            <a:off x="457288" y="2904068"/>
            <a:ext cx="3684943" cy="2853205"/>
          </a:xfrm>
          <a:prstGeom prst="rect">
            <a:avLst/>
          </a:prstGeom>
        </p:spPr>
      </p:pic>
      <p:pic>
        <p:nvPicPr>
          <p:cNvPr id="14" name="Imagem 13">
            <a:extLst>
              <a:ext uri="{FF2B5EF4-FFF2-40B4-BE49-F238E27FC236}">
                <a16:creationId xmlns:a16="http://schemas.microsoft.com/office/drawing/2014/main" id="{F8EAC474-2C5E-16CB-8EEF-43D8C7340EB7}"/>
              </a:ext>
            </a:extLst>
          </p:cNvPr>
          <p:cNvPicPr>
            <a:picLocks noChangeAspect="1"/>
          </p:cNvPicPr>
          <p:nvPr/>
        </p:nvPicPr>
        <p:blipFill>
          <a:blip r:embed="rId3"/>
          <a:stretch>
            <a:fillRect/>
          </a:stretch>
        </p:blipFill>
        <p:spPr>
          <a:xfrm>
            <a:off x="4478644" y="2904067"/>
            <a:ext cx="3228975" cy="2853206"/>
          </a:xfrm>
          <a:prstGeom prst="rect">
            <a:avLst/>
          </a:prstGeom>
        </p:spPr>
      </p:pic>
      <p:pic>
        <p:nvPicPr>
          <p:cNvPr id="16" name="Imagem 15">
            <a:extLst>
              <a:ext uri="{FF2B5EF4-FFF2-40B4-BE49-F238E27FC236}">
                <a16:creationId xmlns:a16="http://schemas.microsoft.com/office/drawing/2014/main" id="{98A3D0C9-D2D8-03BB-EFA5-4C96B41247DC}"/>
              </a:ext>
            </a:extLst>
          </p:cNvPr>
          <p:cNvPicPr>
            <a:picLocks noChangeAspect="1"/>
          </p:cNvPicPr>
          <p:nvPr/>
        </p:nvPicPr>
        <p:blipFill>
          <a:blip r:embed="rId4"/>
          <a:stretch>
            <a:fillRect/>
          </a:stretch>
        </p:blipFill>
        <p:spPr>
          <a:xfrm>
            <a:off x="8294116" y="2891336"/>
            <a:ext cx="2971800" cy="2865937"/>
          </a:xfrm>
          <a:prstGeom prst="rect">
            <a:avLst/>
          </a:prstGeom>
        </p:spPr>
      </p:pic>
    </p:spTree>
    <p:extLst>
      <p:ext uri="{BB962C8B-B14F-4D97-AF65-F5344CB8AC3E}">
        <p14:creationId xmlns:p14="http://schemas.microsoft.com/office/powerpoint/2010/main" val="4271022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D21598-724C-9F29-4BF9-2212E15208E9}"/>
              </a:ext>
            </a:extLst>
          </p:cNvPr>
          <p:cNvSpPr>
            <a:spLocks noGrp="1"/>
          </p:cNvSpPr>
          <p:nvPr>
            <p:ph type="title"/>
          </p:nvPr>
        </p:nvSpPr>
        <p:spPr>
          <a:xfrm>
            <a:off x="685800" y="764373"/>
            <a:ext cx="10820400" cy="1293028"/>
          </a:xfrm>
        </p:spPr>
        <p:txBody>
          <a:bodyPr/>
          <a:lstStyle/>
          <a:p>
            <a:pPr algn="ctr"/>
            <a:r>
              <a:rPr lang="pt-AO" sz="1800" dirty="0">
                <a:solidFill>
                  <a:srgbClr val="000000"/>
                </a:solidFill>
                <a:effectLst/>
                <a:latin typeface="Arial" panose="020B0604020202020204" pitchFamily="34" charset="0"/>
                <a:ea typeface="Arial" panose="020B0604020202020204" pitchFamily="34" charset="0"/>
              </a:rPr>
              <a:t>SISTEMAS UBÍQUOS</a:t>
            </a:r>
            <a:endParaRPr lang="pt-AO" dirty="0"/>
          </a:p>
        </p:txBody>
      </p:sp>
      <p:sp>
        <p:nvSpPr>
          <p:cNvPr id="3" name="Espaço Reservado para Conteúdo 2">
            <a:extLst>
              <a:ext uri="{FF2B5EF4-FFF2-40B4-BE49-F238E27FC236}">
                <a16:creationId xmlns:a16="http://schemas.microsoft.com/office/drawing/2014/main" id="{426F8A06-EB9E-B545-60C0-0D1252DA75F9}"/>
              </a:ext>
            </a:extLst>
          </p:cNvPr>
          <p:cNvSpPr>
            <a:spLocks noGrp="1"/>
          </p:cNvSpPr>
          <p:nvPr>
            <p:ph sz="half" idx="1"/>
          </p:nvPr>
        </p:nvSpPr>
        <p:spPr>
          <a:xfrm>
            <a:off x="0" y="2194559"/>
            <a:ext cx="6019800" cy="4024125"/>
          </a:xfrm>
        </p:spPr>
        <p:txBody>
          <a:bodyPr/>
          <a:lstStyle/>
          <a:p>
            <a:pPr marL="457200" lvl="1" indent="0" algn="just">
              <a:buNone/>
            </a:pPr>
            <a:r>
              <a:rPr lang="pt-AO" sz="1800" kern="100" dirty="0">
                <a:solidFill>
                  <a:srgbClr val="000000"/>
                </a:solidFill>
                <a:effectLst/>
                <a:latin typeface="Times New Roman" panose="02020603050405020304" pitchFamily="18" charset="0"/>
                <a:ea typeface="Arial" panose="020B0604020202020204" pitchFamily="34" charset="0"/>
              </a:rPr>
              <a:t>Os </a:t>
            </a:r>
            <a:r>
              <a:rPr lang="pt-AO" sz="1800" i="1" kern="100" dirty="0">
                <a:solidFill>
                  <a:srgbClr val="000000"/>
                </a:solidFill>
                <a:effectLst/>
                <a:latin typeface="Times New Roman" panose="02020603050405020304" pitchFamily="18" charset="0"/>
                <a:ea typeface="Arial" panose="020B0604020202020204" pitchFamily="34" charset="0"/>
              </a:rPr>
              <a:t>sistemas ubíquos</a:t>
            </a:r>
            <a:r>
              <a:rPr lang="pt-AO" sz="1800" kern="100" dirty="0">
                <a:solidFill>
                  <a:srgbClr val="000000"/>
                </a:solidFill>
                <a:effectLst/>
                <a:latin typeface="Times New Roman" panose="02020603050405020304" pitchFamily="18" charset="0"/>
                <a:ea typeface="Arial" panose="020B0604020202020204" pitchFamily="34" charset="0"/>
              </a:rPr>
              <a:t>, também conhecidos como </a:t>
            </a:r>
            <a:r>
              <a:rPr lang="pt-AO" sz="1800" i="1" kern="100" dirty="0">
                <a:solidFill>
                  <a:srgbClr val="000000"/>
                </a:solidFill>
                <a:effectLst/>
                <a:latin typeface="Times New Roman" panose="02020603050405020304" pitchFamily="18" charset="0"/>
                <a:ea typeface="Arial" panose="020B0604020202020204" pitchFamily="34" charset="0"/>
              </a:rPr>
              <a:t>computação ubíqua</a:t>
            </a:r>
            <a:r>
              <a:rPr lang="pt-AO" sz="1800" kern="100" dirty="0">
                <a:solidFill>
                  <a:srgbClr val="000000"/>
                </a:solidFill>
                <a:effectLst/>
                <a:latin typeface="Times New Roman" panose="02020603050405020304" pitchFamily="18" charset="0"/>
                <a:ea typeface="Arial" panose="020B0604020202020204" pitchFamily="34" charset="0"/>
              </a:rPr>
              <a:t>, representam a base da computação pervasiva. A ideia central desses sistemas é que a tecnologia esteja "em toda parte", de modo que os dispositivos, sensores e sistemas se integrem ao ambiente e operem de maneira invisível e contínua para o usuário. Esses sistemas buscam fazer com que a tecnologia desapareça no cotidiano, ou seja, ela se torna uma presença "invisível" que age automaticamente para facilitar a vida das pessoas, sem a necessidade de interação direta. </a:t>
            </a:r>
            <a:endParaRPr lang="pt-AO" sz="1800" kern="100" dirty="0">
              <a:solidFill>
                <a:srgbClr val="000000"/>
              </a:solidFill>
              <a:effectLst/>
              <a:latin typeface="Arial" panose="020B0604020202020204" pitchFamily="34" charset="0"/>
              <a:ea typeface="Arial" panose="020B0604020202020204" pitchFamily="34" charset="0"/>
            </a:endParaRPr>
          </a:p>
          <a:p>
            <a:endParaRPr lang="pt-AO" dirty="0"/>
          </a:p>
        </p:txBody>
      </p:sp>
      <p:pic>
        <p:nvPicPr>
          <p:cNvPr id="5" name="Espaço Reservado para Conteúdo 4">
            <a:extLst>
              <a:ext uri="{FF2B5EF4-FFF2-40B4-BE49-F238E27FC236}">
                <a16:creationId xmlns:a16="http://schemas.microsoft.com/office/drawing/2014/main" id="{B26A0E2A-844D-E276-9EEC-25C0B1A126D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1931845"/>
            <a:ext cx="5334000" cy="4024125"/>
          </a:xfrm>
          <a:prstGeom prst="rect">
            <a:avLst/>
          </a:prstGeom>
          <a:noFill/>
          <a:ln>
            <a:noFill/>
          </a:ln>
        </p:spPr>
      </p:pic>
    </p:spTree>
    <p:extLst>
      <p:ext uri="{BB962C8B-B14F-4D97-AF65-F5344CB8AC3E}">
        <p14:creationId xmlns:p14="http://schemas.microsoft.com/office/powerpoint/2010/main" val="2699734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C7770C-1396-B410-C972-E762C9955550}"/>
              </a:ext>
            </a:extLst>
          </p:cNvPr>
          <p:cNvSpPr>
            <a:spLocks noGrp="1"/>
          </p:cNvSpPr>
          <p:nvPr>
            <p:ph type="title"/>
          </p:nvPr>
        </p:nvSpPr>
        <p:spPr>
          <a:xfrm>
            <a:off x="820615" y="152401"/>
            <a:ext cx="10685585" cy="1324708"/>
          </a:xfrm>
        </p:spPr>
        <p:txBody>
          <a:bodyPr>
            <a:normAutofit/>
          </a:bodyPr>
          <a:lstStyle/>
          <a:p>
            <a:pPr algn="ctr"/>
            <a:r>
              <a:rPr lang="pt-AO" sz="2000" b="1" kern="100" dirty="0">
                <a:solidFill>
                  <a:srgbClr val="000000"/>
                </a:solidFill>
                <a:effectLst/>
                <a:latin typeface="Times New Roman" panose="02020603050405020304" pitchFamily="18" charset="0"/>
                <a:ea typeface="Arial" panose="020B0604020202020204" pitchFamily="34" charset="0"/>
              </a:rPr>
              <a:t>Vantagens e Desafios </a:t>
            </a:r>
            <a:br>
              <a:rPr lang="pt-AO" sz="2000" b="1" kern="100" dirty="0">
                <a:solidFill>
                  <a:srgbClr val="000000"/>
                </a:solidFill>
                <a:effectLst/>
                <a:latin typeface="Arial" panose="020B0604020202020204" pitchFamily="34" charset="0"/>
                <a:ea typeface="Arial" panose="020B0604020202020204" pitchFamily="34" charset="0"/>
              </a:rPr>
            </a:br>
            <a:endParaRPr lang="pt-AO" sz="2000" dirty="0"/>
          </a:p>
        </p:txBody>
      </p:sp>
      <p:sp>
        <p:nvSpPr>
          <p:cNvPr id="3" name="Espaço Reservado para Conteúdo 2">
            <a:extLst>
              <a:ext uri="{FF2B5EF4-FFF2-40B4-BE49-F238E27FC236}">
                <a16:creationId xmlns:a16="http://schemas.microsoft.com/office/drawing/2014/main" id="{A132EF62-577E-1879-2338-02087CF7E53D}"/>
              </a:ext>
            </a:extLst>
          </p:cNvPr>
          <p:cNvSpPr>
            <a:spLocks noGrp="1"/>
          </p:cNvSpPr>
          <p:nvPr>
            <p:ph idx="1"/>
          </p:nvPr>
        </p:nvSpPr>
        <p:spPr>
          <a:xfrm>
            <a:off x="685800" y="1477110"/>
            <a:ext cx="10820400" cy="4741576"/>
          </a:xfrm>
        </p:spPr>
        <p:txBody>
          <a:bodyPr>
            <a:normAutofit fontScale="92500"/>
          </a:bodyPr>
          <a:lstStyle/>
          <a:p>
            <a:pPr marL="8890" marR="2540" indent="457200" algn="just">
              <a:lnSpc>
                <a:spcPct val="150000"/>
              </a:lnSpc>
              <a:spcAft>
                <a:spcPts val="800"/>
              </a:spcAft>
            </a:pPr>
            <a:r>
              <a:rPr lang="pt-AO" sz="1800" kern="100" dirty="0">
                <a:solidFill>
                  <a:srgbClr val="000000"/>
                </a:solidFill>
                <a:effectLst/>
                <a:latin typeface="Times New Roman" panose="02020603050405020304" pitchFamily="18" charset="0"/>
                <a:ea typeface="Arial" panose="020B0604020202020204" pitchFamily="34" charset="0"/>
              </a:rPr>
              <a:t>Os sistemas ubíquos trazem uma série de vantagens, como maior conveniência, eficiência energética e segurança. No entanto, a integração discreta da tecnologia ao ambiente apresenta desafios importantes, entre os quais destacam-se: </a:t>
            </a:r>
            <a:endParaRPr lang="pt-AO" sz="1800" kern="100" dirty="0">
              <a:solidFill>
                <a:srgbClr val="000000"/>
              </a:solidFill>
              <a:effectLst/>
              <a:latin typeface="Arial" panose="020B0604020202020204" pitchFamily="34" charset="0"/>
              <a:ea typeface="Arial" panose="020B0604020202020204" pitchFamily="34" charset="0"/>
            </a:endParaRPr>
          </a:p>
          <a:p>
            <a:pPr marL="342900" marR="2540" lvl="0" indent="-342900" algn="just" fontAlgn="base">
              <a:lnSpc>
                <a:spcPct val="150000"/>
              </a:lnSpc>
              <a:spcAft>
                <a:spcPts val="800"/>
              </a:spcAft>
              <a:buClr>
                <a:srgbClr val="000000"/>
              </a:buClr>
              <a:buSzPts val="1000"/>
              <a:buFont typeface="Arial" panose="020B0604020202020204" pitchFamily="34" charset="0"/>
              <a:buChar char="•"/>
            </a:pPr>
            <a:r>
              <a:rPr lang="pt-AO" sz="1800"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Arial" panose="020B0604020202020204" pitchFamily="34" charset="0"/>
              </a:rPr>
              <a:t>Privacidade e Segurança</a:t>
            </a:r>
            <a:r>
              <a:rPr lang="pt-AO" sz="18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Arial" panose="020B0604020202020204" pitchFamily="34" charset="0"/>
              </a:rPr>
              <a:t>: A coleta e o processamento de dados sensíveis e contextuais geram preocupações com a privacidade dos usuários. É necessário implementar mecanismos de segurança robustos para proteger as informações pessoais. </a:t>
            </a:r>
            <a:endParaRPr lang="pt-AO" sz="1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marR="2540" lvl="0" indent="-342900" algn="just" fontAlgn="base">
              <a:lnSpc>
                <a:spcPct val="150000"/>
              </a:lnSpc>
              <a:spcAft>
                <a:spcPts val="800"/>
              </a:spcAft>
              <a:buClr>
                <a:srgbClr val="000000"/>
              </a:buClr>
              <a:buSzPts val="1000"/>
              <a:buFont typeface="Arial" panose="020B0604020202020204" pitchFamily="34" charset="0"/>
              <a:buChar char="•"/>
            </a:pPr>
            <a:r>
              <a:rPr lang="pt-AO" sz="1800"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Arial" panose="020B0604020202020204" pitchFamily="34" charset="0"/>
              </a:rPr>
              <a:t>Interoperabilidade</a:t>
            </a:r>
            <a:r>
              <a:rPr lang="pt-AO" sz="18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Arial" panose="020B0604020202020204" pitchFamily="34" charset="0"/>
              </a:rPr>
              <a:t>: A conectividade entre diferentes dispositivos e sistemas requer que estes operem em padrões compatíveis, o que pode ser um desafio devido à diversidade de fabricantes e protocolos. </a:t>
            </a:r>
            <a:endParaRPr lang="pt-AO" sz="1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marR="2540" lvl="0" indent="-342900" algn="just" fontAlgn="base">
              <a:lnSpc>
                <a:spcPct val="150000"/>
              </a:lnSpc>
              <a:spcAft>
                <a:spcPts val="1600"/>
              </a:spcAft>
              <a:buClr>
                <a:srgbClr val="000000"/>
              </a:buClr>
              <a:buSzPts val="1000"/>
              <a:buFont typeface="Arial" panose="020B0604020202020204" pitchFamily="34" charset="0"/>
              <a:buChar char="•"/>
            </a:pPr>
            <a:r>
              <a:rPr lang="pt-AO" sz="1800"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Arial" panose="020B0604020202020204" pitchFamily="34" charset="0"/>
              </a:rPr>
              <a:t>Manutenção e Sustentabilidade</a:t>
            </a:r>
            <a:r>
              <a:rPr lang="pt-AO" sz="18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Arial" panose="020B0604020202020204" pitchFamily="34" charset="0"/>
              </a:rPr>
              <a:t>: A presença de dispositivos em praticamente todos os espaços cria desafios em termos de manutenção e consumo de recursos, exigindo sistemas mais sustentáveis e com baixo consumo de energia. </a:t>
            </a:r>
            <a:endParaRPr lang="pt-AO" sz="1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endParaRPr lang="pt-AO" dirty="0"/>
          </a:p>
        </p:txBody>
      </p:sp>
    </p:spTree>
    <p:extLst>
      <p:ext uri="{BB962C8B-B14F-4D97-AF65-F5344CB8AC3E}">
        <p14:creationId xmlns:p14="http://schemas.microsoft.com/office/powerpoint/2010/main" val="1282110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C76945-0183-4C29-18D2-CDAC8694003B}"/>
              </a:ext>
            </a:extLst>
          </p:cNvPr>
          <p:cNvSpPr>
            <a:spLocks noGrp="1"/>
          </p:cNvSpPr>
          <p:nvPr>
            <p:ph type="title"/>
          </p:nvPr>
        </p:nvSpPr>
        <p:spPr>
          <a:xfrm>
            <a:off x="685800" y="527538"/>
            <a:ext cx="4114800" cy="808893"/>
          </a:xfrm>
        </p:spPr>
        <p:txBody>
          <a:bodyPr>
            <a:normAutofit/>
          </a:bodyPr>
          <a:lstStyle/>
          <a:p>
            <a:pPr algn="ctr"/>
            <a:r>
              <a:rPr lang="pt-AO"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SISTEMAS MÓVEIS </a:t>
            </a:r>
            <a:endParaRPr lang="pt-AO" b="1" dirty="0">
              <a:latin typeface="Times New Roman" panose="02020603050405020304" pitchFamily="18" charset="0"/>
              <a:cs typeface="Times New Roman" panose="02020603050405020304" pitchFamily="18" charset="0"/>
            </a:endParaRPr>
          </a:p>
        </p:txBody>
      </p:sp>
      <p:sp>
        <p:nvSpPr>
          <p:cNvPr id="4" name="Espaço Reservado para Texto 3">
            <a:extLst>
              <a:ext uri="{FF2B5EF4-FFF2-40B4-BE49-F238E27FC236}">
                <a16:creationId xmlns:a16="http://schemas.microsoft.com/office/drawing/2014/main" id="{86BB3EAA-8513-81AC-23E3-1E3C36B20541}"/>
              </a:ext>
            </a:extLst>
          </p:cNvPr>
          <p:cNvSpPr>
            <a:spLocks noGrp="1"/>
          </p:cNvSpPr>
          <p:nvPr>
            <p:ph type="body" sz="half" idx="2"/>
          </p:nvPr>
        </p:nvSpPr>
        <p:spPr>
          <a:xfrm>
            <a:off x="199292" y="1922585"/>
            <a:ext cx="6400800" cy="4665784"/>
          </a:xfrm>
        </p:spPr>
        <p:txBody>
          <a:bodyPr>
            <a:normAutofit fontScale="85000" lnSpcReduction="20000"/>
          </a:bodyPr>
          <a:lstStyle/>
          <a:p>
            <a:pPr marL="8890" marR="2540" indent="457200" algn="just">
              <a:lnSpc>
                <a:spcPct val="150000"/>
              </a:lnSpc>
              <a:spcAft>
                <a:spcPts val="800"/>
              </a:spcAft>
            </a:pPr>
            <a:r>
              <a:rPr lang="pt-AO" sz="1900" kern="100" dirty="0">
                <a:solidFill>
                  <a:srgbClr val="000000"/>
                </a:solidFill>
                <a:effectLst/>
                <a:latin typeface="Times New Roman" panose="02020603050405020304" pitchFamily="18" charset="0"/>
                <a:ea typeface="Arial" panose="020B0604020202020204" pitchFamily="34" charset="0"/>
              </a:rPr>
              <a:t>Os </a:t>
            </a:r>
            <a:r>
              <a:rPr lang="pt-AO" sz="1900" i="1" kern="100" dirty="0">
                <a:solidFill>
                  <a:srgbClr val="000000"/>
                </a:solidFill>
                <a:effectLst/>
                <a:latin typeface="Times New Roman" panose="02020603050405020304" pitchFamily="18" charset="0"/>
                <a:ea typeface="Arial" panose="020B0604020202020204" pitchFamily="34" charset="0"/>
              </a:rPr>
              <a:t>sistemas móveis</a:t>
            </a:r>
            <a:r>
              <a:rPr lang="pt-AO" sz="1900" kern="100" dirty="0">
                <a:solidFill>
                  <a:srgbClr val="000000"/>
                </a:solidFill>
                <a:effectLst/>
                <a:latin typeface="Times New Roman" panose="02020603050405020304" pitchFamily="18" charset="0"/>
                <a:ea typeface="Arial" panose="020B0604020202020204" pitchFamily="34" charset="0"/>
              </a:rPr>
              <a:t> são uma das subáreas fundamentais dos sistemas pervasivos e referem-se à tecnologia que permite que dispositivos sejam usados em movimento, proporcionando conectividade e acesso contínuo a dados e serviços, independentemente da localização. A mobilidade permite que as pessoas e máquinas acessem informações e interajam com sistemas em tempo real, oferecendo uma experiência contínua e altamente personalizada. </a:t>
            </a:r>
            <a:endParaRPr lang="pt-AO" sz="1900" kern="100" dirty="0">
              <a:solidFill>
                <a:srgbClr val="000000"/>
              </a:solidFill>
              <a:effectLst/>
              <a:latin typeface="Arial" panose="020B0604020202020204" pitchFamily="34" charset="0"/>
              <a:ea typeface="Arial" panose="020B0604020202020204" pitchFamily="34" charset="0"/>
            </a:endParaRPr>
          </a:p>
          <a:p>
            <a:pPr marL="8890" marR="2540" indent="457200" algn="just">
              <a:lnSpc>
                <a:spcPct val="150000"/>
              </a:lnSpc>
              <a:spcAft>
                <a:spcPts val="800"/>
              </a:spcAft>
            </a:pPr>
            <a:r>
              <a:rPr lang="pt-AO" sz="1900" kern="100" dirty="0">
                <a:solidFill>
                  <a:srgbClr val="000000"/>
                </a:solidFill>
                <a:effectLst/>
                <a:latin typeface="Times New Roman" panose="02020603050405020304" pitchFamily="18" charset="0"/>
                <a:ea typeface="Arial" panose="020B0604020202020204" pitchFamily="34" charset="0"/>
              </a:rPr>
              <a:t>Com o avanço da tecnologia móvel, dispositivos como smartphones, tablets, laptops e wearables tornaram-se elementos essenciais da vida moderna. Esses dispositivos oferecem não apenas a capacidade de comunicação, mas também a possibilidade de processamento e armazenamento de dados localmente, tornando</a:t>
            </a:r>
            <a:r>
              <a:rPr lang="pt-PT" sz="1900" kern="100" dirty="0">
                <a:solidFill>
                  <a:srgbClr val="000000"/>
                </a:solidFill>
                <a:latin typeface="Times New Roman" panose="02020603050405020304" pitchFamily="18" charset="0"/>
                <a:ea typeface="Arial" panose="020B0604020202020204" pitchFamily="34" charset="0"/>
              </a:rPr>
              <a:t>-</a:t>
            </a:r>
            <a:r>
              <a:rPr lang="pt-AO" sz="1900" kern="100" dirty="0">
                <a:solidFill>
                  <a:srgbClr val="000000"/>
                </a:solidFill>
                <a:effectLst/>
                <a:latin typeface="Times New Roman" panose="02020603050405020304" pitchFamily="18" charset="0"/>
                <a:ea typeface="Arial" panose="020B0604020202020204" pitchFamily="34" charset="0"/>
              </a:rPr>
              <a:t>os ferramentas poderosas para interação em ambientes pervasivos. </a:t>
            </a:r>
            <a:endParaRPr lang="pt-AO" sz="1900" kern="100" dirty="0">
              <a:solidFill>
                <a:srgbClr val="000000"/>
              </a:solidFill>
              <a:effectLst/>
              <a:latin typeface="Arial" panose="020B0604020202020204" pitchFamily="34" charset="0"/>
              <a:ea typeface="Arial" panose="020B0604020202020204" pitchFamily="34" charset="0"/>
            </a:endParaRPr>
          </a:p>
          <a:p>
            <a:endParaRPr lang="pt-AO" dirty="0"/>
          </a:p>
        </p:txBody>
      </p:sp>
      <p:pic>
        <p:nvPicPr>
          <p:cNvPr id="5" name="Espaço Reservado para Conteúdo 4">
            <a:extLst>
              <a:ext uri="{FF2B5EF4-FFF2-40B4-BE49-F238E27FC236}">
                <a16:creationId xmlns:a16="http://schemas.microsoft.com/office/drawing/2014/main" id="{F48BFF39-5534-85BA-4C15-4D05FD6FB51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75231" y="1922585"/>
            <a:ext cx="4525107" cy="4149969"/>
          </a:xfrm>
          <a:prstGeom prst="rect">
            <a:avLst/>
          </a:prstGeom>
          <a:noFill/>
          <a:ln>
            <a:noFill/>
          </a:ln>
        </p:spPr>
      </p:pic>
    </p:spTree>
    <p:extLst>
      <p:ext uri="{BB962C8B-B14F-4D97-AF65-F5344CB8AC3E}">
        <p14:creationId xmlns:p14="http://schemas.microsoft.com/office/powerpoint/2010/main" val="3818886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948963-3B0E-CDDC-28C6-99D49EA77E7E}"/>
              </a:ext>
            </a:extLst>
          </p:cNvPr>
          <p:cNvSpPr>
            <a:spLocks noGrp="1"/>
          </p:cNvSpPr>
          <p:nvPr>
            <p:ph type="title"/>
          </p:nvPr>
        </p:nvSpPr>
        <p:spPr>
          <a:xfrm>
            <a:off x="539262" y="128954"/>
            <a:ext cx="10966937" cy="1043354"/>
          </a:xfrm>
        </p:spPr>
        <p:txBody>
          <a:bodyPr>
            <a:normAutofit/>
          </a:bodyPr>
          <a:lstStyle/>
          <a:p>
            <a:pPr algn="ctr"/>
            <a:r>
              <a:rPr lang="pt-AO" sz="2400" b="1" dirty="0">
                <a:solidFill>
                  <a:srgbClr val="000000"/>
                </a:solidFill>
                <a:effectLst/>
                <a:latin typeface="Times New Roman" panose="02020603050405020304" pitchFamily="18" charset="0"/>
                <a:ea typeface="Arial" panose="020B0604020202020204" pitchFamily="34" charset="0"/>
              </a:rPr>
              <a:t>Aplicações </a:t>
            </a:r>
            <a:endParaRPr lang="pt-AO" sz="2400" b="1" dirty="0"/>
          </a:p>
        </p:txBody>
      </p:sp>
      <p:sp>
        <p:nvSpPr>
          <p:cNvPr id="3" name="Espaço Reservado para Texto 2">
            <a:extLst>
              <a:ext uri="{FF2B5EF4-FFF2-40B4-BE49-F238E27FC236}">
                <a16:creationId xmlns:a16="http://schemas.microsoft.com/office/drawing/2014/main" id="{2CCD6B4A-330F-3483-DCA9-0068306FDE3E}"/>
              </a:ext>
            </a:extLst>
          </p:cNvPr>
          <p:cNvSpPr>
            <a:spLocks noGrp="1"/>
          </p:cNvSpPr>
          <p:nvPr>
            <p:ph type="body" idx="1"/>
          </p:nvPr>
        </p:nvSpPr>
        <p:spPr>
          <a:xfrm>
            <a:off x="688618" y="1371601"/>
            <a:ext cx="3451582" cy="548054"/>
          </a:xfrm>
        </p:spPr>
        <p:txBody>
          <a:bodyPr/>
          <a:lstStyle/>
          <a:p>
            <a:r>
              <a:rPr lang="pt-AO" sz="1800" b="1" dirty="0">
                <a:solidFill>
                  <a:srgbClr val="000000"/>
                </a:solidFill>
                <a:effectLst/>
                <a:latin typeface="Times New Roman" panose="02020603050405020304" pitchFamily="18" charset="0"/>
                <a:ea typeface="Arial" panose="020B0604020202020204" pitchFamily="34" charset="0"/>
              </a:rPr>
              <a:t>Comunicação e Redes Sociais</a:t>
            </a:r>
            <a:endParaRPr lang="pt-AO" dirty="0"/>
          </a:p>
        </p:txBody>
      </p:sp>
      <p:sp>
        <p:nvSpPr>
          <p:cNvPr id="5" name="Espaço Reservado para Texto 4">
            <a:extLst>
              <a:ext uri="{FF2B5EF4-FFF2-40B4-BE49-F238E27FC236}">
                <a16:creationId xmlns:a16="http://schemas.microsoft.com/office/drawing/2014/main" id="{DF53A4DA-6C37-39B9-CCBD-9235FA1DBF13}"/>
              </a:ext>
            </a:extLst>
          </p:cNvPr>
          <p:cNvSpPr>
            <a:spLocks noGrp="1"/>
          </p:cNvSpPr>
          <p:nvPr>
            <p:ph type="body" sz="half" idx="18"/>
          </p:nvPr>
        </p:nvSpPr>
        <p:spPr>
          <a:xfrm>
            <a:off x="539262" y="2010665"/>
            <a:ext cx="3451582" cy="3559955"/>
          </a:xfrm>
        </p:spPr>
        <p:txBody>
          <a:bodyPr/>
          <a:lstStyle/>
          <a:p>
            <a:endParaRPr lang="pt-AO" dirty="0"/>
          </a:p>
        </p:txBody>
      </p:sp>
      <p:sp>
        <p:nvSpPr>
          <p:cNvPr id="6" name="Espaço Reservado para Texto 5">
            <a:extLst>
              <a:ext uri="{FF2B5EF4-FFF2-40B4-BE49-F238E27FC236}">
                <a16:creationId xmlns:a16="http://schemas.microsoft.com/office/drawing/2014/main" id="{F6C0CD96-E84D-9FE2-6977-7E428D2F4059}"/>
              </a:ext>
            </a:extLst>
          </p:cNvPr>
          <p:cNvSpPr>
            <a:spLocks noGrp="1"/>
          </p:cNvSpPr>
          <p:nvPr>
            <p:ph type="body" sz="quarter" idx="3"/>
          </p:nvPr>
        </p:nvSpPr>
        <p:spPr>
          <a:xfrm>
            <a:off x="4374263" y="1263317"/>
            <a:ext cx="3448935" cy="656338"/>
          </a:xfrm>
        </p:spPr>
        <p:txBody>
          <a:bodyPr/>
          <a:lstStyle/>
          <a:p>
            <a:r>
              <a:rPr lang="pt-AO" sz="1800" b="1" dirty="0">
                <a:solidFill>
                  <a:srgbClr val="000000"/>
                </a:solidFill>
                <a:effectLst/>
                <a:latin typeface="Times New Roman" panose="02020603050405020304" pitchFamily="18" charset="0"/>
                <a:ea typeface="Arial" panose="020B0604020202020204" pitchFamily="34" charset="0"/>
              </a:rPr>
              <a:t>Saúde Móvel (mHealth)</a:t>
            </a:r>
            <a:endParaRPr lang="pt-AO" dirty="0"/>
          </a:p>
        </p:txBody>
      </p:sp>
      <p:sp>
        <p:nvSpPr>
          <p:cNvPr id="8" name="Espaço Reservado para Texto 7">
            <a:extLst>
              <a:ext uri="{FF2B5EF4-FFF2-40B4-BE49-F238E27FC236}">
                <a16:creationId xmlns:a16="http://schemas.microsoft.com/office/drawing/2014/main" id="{C07F5F41-CC3C-71EF-A1D3-DFAC246B8707}"/>
              </a:ext>
            </a:extLst>
          </p:cNvPr>
          <p:cNvSpPr>
            <a:spLocks noGrp="1"/>
          </p:cNvSpPr>
          <p:nvPr>
            <p:ph type="body" sz="half" idx="19"/>
          </p:nvPr>
        </p:nvSpPr>
        <p:spPr>
          <a:xfrm>
            <a:off x="4374264" y="2010665"/>
            <a:ext cx="3448935" cy="3584018"/>
          </a:xfrm>
        </p:spPr>
        <p:txBody>
          <a:bodyPr/>
          <a:lstStyle/>
          <a:p>
            <a:endParaRPr lang="pt-AO" dirty="0"/>
          </a:p>
        </p:txBody>
      </p:sp>
      <p:sp>
        <p:nvSpPr>
          <p:cNvPr id="9" name="Espaço Reservado para Texto 8">
            <a:extLst>
              <a:ext uri="{FF2B5EF4-FFF2-40B4-BE49-F238E27FC236}">
                <a16:creationId xmlns:a16="http://schemas.microsoft.com/office/drawing/2014/main" id="{44FF7457-4A27-C561-48A9-3ED2F1BB75CE}"/>
              </a:ext>
            </a:extLst>
          </p:cNvPr>
          <p:cNvSpPr>
            <a:spLocks noGrp="1"/>
          </p:cNvSpPr>
          <p:nvPr>
            <p:ph type="body" sz="quarter" idx="13"/>
          </p:nvPr>
        </p:nvSpPr>
        <p:spPr>
          <a:xfrm>
            <a:off x="8049731" y="1313812"/>
            <a:ext cx="3456469" cy="605843"/>
          </a:xfrm>
        </p:spPr>
        <p:txBody>
          <a:bodyPr/>
          <a:lstStyle/>
          <a:p>
            <a:r>
              <a:rPr lang="pt-AO" sz="1800" b="1" dirty="0">
                <a:solidFill>
                  <a:srgbClr val="000000"/>
                </a:solidFill>
                <a:effectLst/>
                <a:latin typeface="Times New Roman" panose="02020603050405020304" pitchFamily="18" charset="0"/>
                <a:ea typeface="Arial" panose="020B0604020202020204" pitchFamily="34" charset="0"/>
              </a:rPr>
              <a:t>Transporte e Navegação</a:t>
            </a:r>
            <a:endParaRPr lang="pt-AO" dirty="0"/>
          </a:p>
        </p:txBody>
      </p:sp>
      <p:sp>
        <p:nvSpPr>
          <p:cNvPr id="11" name="Espaço Reservado para Texto 10">
            <a:extLst>
              <a:ext uri="{FF2B5EF4-FFF2-40B4-BE49-F238E27FC236}">
                <a16:creationId xmlns:a16="http://schemas.microsoft.com/office/drawing/2014/main" id="{F9C17FE1-EBD1-6E47-BFB3-72898B40DB38}"/>
              </a:ext>
            </a:extLst>
          </p:cNvPr>
          <p:cNvSpPr>
            <a:spLocks noGrp="1"/>
          </p:cNvSpPr>
          <p:nvPr>
            <p:ph type="body" sz="half" idx="20"/>
          </p:nvPr>
        </p:nvSpPr>
        <p:spPr>
          <a:xfrm>
            <a:off x="8049731" y="2061160"/>
            <a:ext cx="3452445" cy="3533521"/>
          </a:xfrm>
        </p:spPr>
        <p:txBody>
          <a:bodyPr/>
          <a:lstStyle/>
          <a:p>
            <a:endParaRPr lang="pt-AO" dirty="0"/>
          </a:p>
        </p:txBody>
      </p:sp>
      <p:pic>
        <p:nvPicPr>
          <p:cNvPr id="13" name="Imagem 12">
            <a:extLst>
              <a:ext uri="{FF2B5EF4-FFF2-40B4-BE49-F238E27FC236}">
                <a16:creationId xmlns:a16="http://schemas.microsoft.com/office/drawing/2014/main" id="{17574262-409C-1E4E-142A-2F1B3B2BF031}"/>
              </a:ext>
            </a:extLst>
          </p:cNvPr>
          <p:cNvPicPr>
            <a:picLocks noChangeAspect="1"/>
          </p:cNvPicPr>
          <p:nvPr/>
        </p:nvPicPr>
        <p:blipFill>
          <a:blip r:embed="rId2"/>
          <a:stretch>
            <a:fillRect/>
          </a:stretch>
        </p:blipFill>
        <p:spPr>
          <a:xfrm>
            <a:off x="539262" y="2010664"/>
            <a:ext cx="3451582" cy="3584017"/>
          </a:xfrm>
          <a:prstGeom prst="rect">
            <a:avLst/>
          </a:prstGeom>
        </p:spPr>
      </p:pic>
      <p:pic>
        <p:nvPicPr>
          <p:cNvPr id="15" name="Imagem 14">
            <a:extLst>
              <a:ext uri="{FF2B5EF4-FFF2-40B4-BE49-F238E27FC236}">
                <a16:creationId xmlns:a16="http://schemas.microsoft.com/office/drawing/2014/main" id="{A79D0279-A68C-A89D-4715-A69D2C0E9477}"/>
              </a:ext>
            </a:extLst>
          </p:cNvPr>
          <p:cNvPicPr>
            <a:picLocks noChangeAspect="1"/>
          </p:cNvPicPr>
          <p:nvPr/>
        </p:nvPicPr>
        <p:blipFill>
          <a:blip r:embed="rId3"/>
          <a:stretch>
            <a:fillRect/>
          </a:stretch>
        </p:blipFill>
        <p:spPr>
          <a:xfrm>
            <a:off x="4374263" y="2061161"/>
            <a:ext cx="3350011" cy="3509460"/>
          </a:xfrm>
          <a:prstGeom prst="rect">
            <a:avLst/>
          </a:prstGeom>
        </p:spPr>
      </p:pic>
      <p:pic>
        <p:nvPicPr>
          <p:cNvPr id="19" name="Imagem 18">
            <a:extLst>
              <a:ext uri="{FF2B5EF4-FFF2-40B4-BE49-F238E27FC236}">
                <a16:creationId xmlns:a16="http://schemas.microsoft.com/office/drawing/2014/main" id="{7FCE8469-2AC9-3F7C-F00F-65F900C2342B}"/>
              </a:ext>
            </a:extLst>
          </p:cNvPr>
          <p:cNvPicPr>
            <a:picLocks noChangeAspect="1"/>
          </p:cNvPicPr>
          <p:nvPr/>
        </p:nvPicPr>
        <p:blipFill>
          <a:blip r:embed="rId4"/>
          <a:stretch>
            <a:fillRect/>
          </a:stretch>
        </p:blipFill>
        <p:spPr>
          <a:xfrm>
            <a:off x="8107694" y="2110095"/>
            <a:ext cx="3394482" cy="3460526"/>
          </a:xfrm>
          <a:prstGeom prst="rect">
            <a:avLst/>
          </a:prstGeom>
        </p:spPr>
      </p:pic>
    </p:spTree>
    <p:extLst>
      <p:ext uri="{BB962C8B-B14F-4D97-AF65-F5344CB8AC3E}">
        <p14:creationId xmlns:p14="http://schemas.microsoft.com/office/powerpoint/2010/main" val="1748539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23990D-7DDA-501C-EA10-235CD6CD4792}"/>
              </a:ext>
            </a:extLst>
          </p:cNvPr>
          <p:cNvSpPr>
            <a:spLocks noGrp="1"/>
          </p:cNvSpPr>
          <p:nvPr>
            <p:ph type="title"/>
          </p:nvPr>
        </p:nvSpPr>
        <p:spPr>
          <a:xfrm>
            <a:off x="685800" y="117232"/>
            <a:ext cx="10820400" cy="1160584"/>
          </a:xfrm>
        </p:spPr>
        <p:txBody>
          <a:bodyPr/>
          <a:lstStyle/>
          <a:p>
            <a:pPr algn="ctr"/>
            <a:r>
              <a:rPr lang="pt-AO" sz="2800" b="1" dirty="0">
                <a:solidFill>
                  <a:srgbClr val="000000"/>
                </a:solidFill>
                <a:effectLst/>
                <a:latin typeface="Times New Roman" panose="02020603050405020304" pitchFamily="18" charset="0"/>
                <a:ea typeface="Arial" panose="020B0604020202020204" pitchFamily="34" charset="0"/>
              </a:rPr>
              <a:t>Desafios</a:t>
            </a:r>
            <a:r>
              <a:rPr lang="pt-AO" sz="1800" dirty="0">
                <a:solidFill>
                  <a:srgbClr val="000000"/>
                </a:solidFill>
                <a:effectLst/>
                <a:latin typeface="Times New Roman" panose="02020603050405020304" pitchFamily="18" charset="0"/>
                <a:ea typeface="Arial" panose="020B0604020202020204" pitchFamily="34" charset="0"/>
              </a:rPr>
              <a:t> </a:t>
            </a:r>
            <a:endParaRPr lang="pt-AO" dirty="0"/>
          </a:p>
        </p:txBody>
      </p:sp>
      <p:sp>
        <p:nvSpPr>
          <p:cNvPr id="3" name="Espaço Reservado para Texto 2">
            <a:extLst>
              <a:ext uri="{FF2B5EF4-FFF2-40B4-BE49-F238E27FC236}">
                <a16:creationId xmlns:a16="http://schemas.microsoft.com/office/drawing/2014/main" id="{B1A9CC1E-BFF1-E142-A290-4E88D3566A73}"/>
              </a:ext>
            </a:extLst>
          </p:cNvPr>
          <p:cNvSpPr>
            <a:spLocks noGrp="1"/>
          </p:cNvSpPr>
          <p:nvPr>
            <p:ph type="body" idx="1"/>
          </p:nvPr>
        </p:nvSpPr>
        <p:spPr>
          <a:xfrm>
            <a:off x="685800" y="1286780"/>
            <a:ext cx="3456432" cy="1384230"/>
          </a:xfrm>
        </p:spPr>
        <p:txBody>
          <a:bodyPr/>
          <a:lstStyle/>
          <a:p>
            <a:r>
              <a:rPr lang="pt-PT" dirty="0">
                <a:latin typeface="Times New Roman" panose="02020603050405020304" pitchFamily="18" charset="0"/>
                <a:cs typeface="Times New Roman" panose="02020603050405020304" pitchFamily="18" charset="0"/>
              </a:rPr>
              <a:t>Segurança</a:t>
            </a:r>
          </a:p>
        </p:txBody>
      </p:sp>
      <p:sp>
        <p:nvSpPr>
          <p:cNvPr id="4" name="Espaço Reservado para Texto 3">
            <a:extLst>
              <a:ext uri="{FF2B5EF4-FFF2-40B4-BE49-F238E27FC236}">
                <a16:creationId xmlns:a16="http://schemas.microsoft.com/office/drawing/2014/main" id="{2A580A51-8920-BEC1-6A94-CD990A3ABF26}"/>
              </a:ext>
            </a:extLst>
          </p:cNvPr>
          <p:cNvSpPr>
            <a:spLocks noGrp="1"/>
          </p:cNvSpPr>
          <p:nvPr>
            <p:ph type="body" sz="half" idx="15"/>
          </p:nvPr>
        </p:nvSpPr>
        <p:spPr/>
        <p:txBody>
          <a:bodyPr/>
          <a:lstStyle/>
          <a:p>
            <a:endParaRPr lang="pt-AO"/>
          </a:p>
        </p:txBody>
      </p:sp>
      <p:sp>
        <p:nvSpPr>
          <p:cNvPr id="5" name="Espaço Reservado para Texto 4">
            <a:extLst>
              <a:ext uri="{FF2B5EF4-FFF2-40B4-BE49-F238E27FC236}">
                <a16:creationId xmlns:a16="http://schemas.microsoft.com/office/drawing/2014/main" id="{7CB642D1-54D8-D267-5ACA-880DD0E7DA60}"/>
              </a:ext>
            </a:extLst>
          </p:cNvPr>
          <p:cNvSpPr>
            <a:spLocks noGrp="1"/>
          </p:cNvSpPr>
          <p:nvPr>
            <p:ph type="body" sz="quarter" idx="3"/>
          </p:nvPr>
        </p:nvSpPr>
        <p:spPr>
          <a:xfrm>
            <a:off x="4368800" y="1912129"/>
            <a:ext cx="3456432" cy="758881"/>
          </a:xfrm>
        </p:spPr>
        <p:txBody>
          <a:bodyPr/>
          <a:lstStyle/>
          <a:p>
            <a:r>
              <a:rPr lang="pt-AO" b="1" dirty="0">
                <a:solidFill>
                  <a:srgbClr val="000000"/>
                </a:solidFill>
                <a:effectLst/>
                <a:latin typeface="Times New Roman" panose="02020603050405020304" pitchFamily="18" charset="0"/>
                <a:ea typeface="Arial" panose="020B0604020202020204" pitchFamily="34" charset="0"/>
              </a:rPr>
              <a:t>Consumo de Energia</a:t>
            </a:r>
            <a:r>
              <a:rPr lang="pt-AO" dirty="0">
                <a:solidFill>
                  <a:srgbClr val="000000"/>
                </a:solidFill>
                <a:effectLst/>
                <a:latin typeface="Times New Roman" panose="02020603050405020304" pitchFamily="18" charset="0"/>
                <a:ea typeface="Arial" panose="020B0604020202020204" pitchFamily="34" charset="0"/>
              </a:rPr>
              <a:t>:</a:t>
            </a:r>
            <a:endParaRPr lang="pt-AO" dirty="0"/>
          </a:p>
        </p:txBody>
      </p:sp>
      <p:sp>
        <p:nvSpPr>
          <p:cNvPr id="6" name="Espaço Reservado para Texto 5">
            <a:extLst>
              <a:ext uri="{FF2B5EF4-FFF2-40B4-BE49-F238E27FC236}">
                <a16:creationId xmlns:a16="http://schemas.microsoft.com/office/drawing/2014/main" id="{A59A372E-0668-5A30-7F19-309FA9DFA1FD}"/>
              </a:ext>
            </a:extLst>
          </p:cNvPr>
          <p:cNvSpPr>
            <a:spLocks noGrp="1"/>
          </p:cNvSpPr>
          <p:nvPr>
            <p:ph type="body" sz="half" idx="16"/>
          </p:nvPr>
        </p:nvSpPr>
        <p:spPr/>
        <p:txBody>
          <a:bodyPr/>
          <a:lstStyle/>
          <a:p>
            <a:endParaRPr lang="pt-AO" dirty="0"/>
          </a:p>
        </p:txBody>
      </p:sp>
      <p:sp>
        <p:nvSpPr>
          <p:cNvPr id="7" name="Espaço Reservado para Texto 6">
            <a:extLst>
              <a:ext uri="{FF2B5EF4-FFF2-40B4-BE49-F238E27FC236}">
                <a16:creationId xmlns:a16="http://schemas.microsoft.com/office/drawing/2014/main" id="{92396B58-1FEE-A62D-3D94-AB3D08654FFD}"/>
              </a:ext>
            </a:extLst>
          </p:cNvPr>
          <p:cNvSpPr>
            <a:spLocks noGrp="1"/>
          </p:cNvSpPr>
          <p:nvPr>
            <p:ph type="body" sz="quarter" idx="13"/>
          </p:nvPr>
        </p:nvSpPr>
        <p:spPr>
          <a:xfrm>
            <a:off x="8051800" y="1912129"/>
            <a:ext cx="3456432" cy="758881"/>
          </a:xfrm>
        </p:spPr>
        <p:txBody>
          <a:bodyPr/>
          <a:lstStyle/>
          <a:p>
            <a:r>
              <a:rPr lang="pt-AO" b="1" dirty="0">
                <a:solidFill>
                  <a:srgbClr val="000000"/>
                </a:solidFill>
                <a:effectLst/>
                <a:latin typeface="Times New Roman" panose="02020603050405020304" pitchFamily="18" charset="0"/>
                <a:ea typeface="Arial" panose="020B0604020202020204" pitchFamily="34" charset="0"/>
              </a:rPr>
              <a:t>Qualidade de Conexão</a:t>
            </a:r>
            <a:r>
              <a:rPr lang="pt-AO" dirty="0">
                <a:solidFill>
                  <a:srgbClr val="000000"/>
                </a:solidFill>
                <a:effectLst/>
                <a:latin typeface="Times New Roman" panose="02020603050405020304" pitchFamily="18" charset="0"/>
                <a:ea typeface="Arial" panose="020B0604020202020204" pitchFamily="34" charset="0"/>
              </a:rPr>
              <a:t>: </a:t>
            </a:r>
            <a:endParaRPr lang="pt-AO" dirty="0"/>
          </a:p>
        </p:txBody>
      </p:sp>
      <p:sp>
        <p:nvSpPr>
          <p:cNvPr id="8" name="Espaço Reservado para Texto 7">
            <a:extLst>
              <a:ext uri="{FF2B5EF4-FFF2-40B4-BE49-F238E27FC236}">
                <a16:creationId xmlns:a16="http://schemas.microsoft.com/office/drawing/2014/main" id="{7AEAF2E9-08D7-3E50-3605-29A187E44DFA}"/>
              </a:ext>
            </a:extLst>
          </p:cNvPr>
          <p:cNvSpPr>
            <a:spLocks noGrp="1"/>
          </p:cNvSpPr>
          <p:nvPr>
            <p:ph type="body" sz="half" idx="17"/>
          </p:nvPr>
        </p:nvSpPr>
        <p:spPr/>
        <p:txBody>
          <a:bodyPr/>
          <a:lstStyle/>
          <a:p>
            <a:endParaRPr lang="pt-AO" dirty="0"/>
          </a:p>
        </p:txBody>
      </p:sp>
      <p:pic>
        <p:nvPicPr>
          <p:cNvPr id="10" name="Imagem 9">
            <a:extLst>
              <a:ext uri="{FF2B5EF4-FFF2-40B4-BE49-F238E27FC236}">
                <a16:creationId xmlns:a16="http://schemas.microsoft.com/office/drawing/2014/main" id="{C5975733-90E2-294C-928C-3300BA2CD6DF}"/>
              </a:ext>
            </a:extLst>
          </p:cNvPr>
          <p:cNvPicPr>
            <a:picLocks noChangeAspect="1"/>
          </p:cNvPicPr>
          <p:nvPr/>
        </p:nvPicPr>
        <p:blipFill>
          <a:blip r:embed="rId2"/>
          <a:stretch>
            <a:fillRect/>
          </a:stretch>
        </p:blipFill>
        <p:spPr>
          <a:xfrm>
            <a:off x="683767" y="2904067"/>
            <a:ext cx="3425190" cy="3411824"/>
          </a:xfrm>
          <a:prstGeom prst="rect">
            <a:avLst/>
          </a:prstGeom>
        </p:spPr>
      </p:pic>
      <p:pic>
        <p:nvPicPr>
          <p:cNvPr id="11" name="Imagem 10">
            <a:extLst>
              <a:ext uri="{FF2B5EF4-FFF2-40B4-BE49-F238E27FC236}">
                <a16:creationId xmlns:a16="http://schemas.microsoft.com/office/drawing/2014/main" id="{4B741E70-066E-FEBE-BB5C-9D445B21D595}"/>
              </a:ext>
            </a:extLst>
          </p:cNvPr>
          <p:cNvPicPr>
            <a:picLocks noChangeAspect="1"/>
          </p:cNvPicPr>
          <p:nvPr/>
        </p:nvPicPr>
        <p:blipFill>
          <a:blip r:embed="rId3"/>
          <a:stretch>
            <a:fillRect/>
          </a:stretch>
        </p:blipFill>
        <p:spPr>
          <a:xfrm>
            <a:off x="4333583" y="2904066"/>
            <a:ext cx="3425189" cy="3314618"/>
          </a:xfrm>
          <a:prstGeom prst="rect">
            <a:avLst/>
          </a:prstGeom>
        </p:spPr>
      </p:pic>
      <p:pic>
        <p:nvPicPr>
          <p:cNvPr id="13" name="Imagem 12">
            <a:extLst>
              <a:ext uri="{FF2B5EF4-FFF2-40B4-BE49-F238E27FC236}">
                <a16:creationId xmlns:a16="http://schemas.microsoft.com/office/drawing/2014/main" id="{514360AE-7369-DD20-333A-E5D8C679961C}"/>
              </a:ext>
            </a:extLst>
          </p:cNvPr>
          <p:cNvPicPr>
            <a:picLocks noChangeAspect="1"/>
          </p:cNvPicPr>
          <p:nvPr/>
        </p:nvPicPr>
        <p:blipFill>
          <a:blip r:embed="rId4"/>
          <a:stretch>
            <a:fillRect/>
          </a:stretch>
        </p:blipFill>
        <p:spPr>
          <a:xfrm>
            <a:off x="8116318" y="2904065"/>
            <a:ext cx="3389881" cy="3314619"/>
          </a:xfrm>
          <a:prstGeom prst="rect">
            <a:avLst/>
          </a:prstGeom>
        </p:spPr>
      </p:pic>
    </p:spTree>
    <p:extLst>
      <p:ext uri="{BB962C8B-B14F-4D97-AF65-F5344CB8AC3E}">
        <p14:creationId xmlns:p14="http://schemas.microsoft.com/office/powerpoint/2010/main" val="793107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E6A57D-771A-00D1-0DFE-61BDD5515218}"/>
              </a:ext>
            </a:extLst>
          </p:cNvPr>
          <p:cNvSpPr>
            <a:spLocks noGrp="1"/>
          </p:cNvSpPr>
          <p:nvPr>
            <p:ph type="title"/>
          </p:nvPr>
        </p:nvSpPr>
        <p:spPr>
          <a:xfrm>
            <a:off x="416169" y="143050"/>
            <a:ext cx="11072446" cy="1293028"/>
          </a:xfrm>
        </p:spPr>
        <p:txBody>
          <a:bodyPr/>
          <a:lstStyle/>
          <a:p>
            <a:pPr algn="ctr"/>
            <a:r>
              <a:rPr lang="pt-AO" sz="1800" b="1" dirty="0">
                <a:effectLst/>
                <a:latin typeface="Times New Roman" panose="02020603050405020304" pitchFamily="18" charset="0"/>
                <a:ea typeface="Times New Roman" panose="02020603050405020304" pitchFamily="18" charset="0"/>
              </a:rPr>
              <a:t>SISTEMAS DE SENSORES </a:t>
            </a:r>
            <a:endParaRPr lang="pt-AO" dirty="0"/>
          </a:p>
        </p:txBody>
      </p:sp>
      <p:sp>
        <p:nvSpPr>
          <p:cNvPr id="3" name="Espaço Reservado para Conteúdo 2">
            <a:extLst>
              <a:ext uri="{FF2B5EF4-FFF2-40B4-BE49-F238E27FC236}">
                <a16:creationId xmlns:a16="http://schemas.microsoft.com/office/drawing/2014/main" id="{C81E1C3A-3B20-8197-C1C4-30EF45344B86}"/>
              </a:ext>
            </a:extLst>
          </p:cNvPr>
          <p:cNvSpPr>
            <a:spLocks noGrp="1"/>
          </p:cNvSpPr>
          <p:nvPr>
            <p:ph sz="half" idx="1"/>
          </p:nvPr>
        </p:nvSpPr>
        <p:spPr/>
        <p:txBody>
          <a:bodyPr/>
          <a:lstStyle/>
          <a:p>
            <a:r>
              <a:rPr lang="pt-AO" sz="1800" kern="100" dirty="0">
                <a:solidFill>
                  <a:srgbClr val="000000"/>
                </a:solidFill>
                <a:effectLst/>
                <a:latin typeface="Times New Roman" panose="02020603050405020304" pitchFamily="18" charset="0"/>
                <a:ea typeface="Arial" panose="020B0604020202020204" pitchFamily="34" charset="0"/>
              </a:rPr>
              <a:t> </a:t>
            </a:r>
            <a:r>
              <a:rPr lang="pt-AO" sz="2400" kern="100" dirty="0">
                <a:solidFill>
                  <a:srgbClr val="000000"/>
                </a:solidFill>
                <a:effectLst/>
                <a:latin typeface="Times New Roman" panose="02020603050405020304" pitchFamily="18" charset="0"/>
                <a:ea typeface="Arial" panose="020B0604020202020204" pitchFamily="34" charset="0"/>
              </a:rPr>
              <a:t>Um sistema de sensores é um conjunto de dispositivos que detectam e medem variáveis físicas ou químicas do ambiente, convertendo essas informações em sinais que podem ser interpretados por sistemas eletrônicos ou computacionais. Esses sistemas são amplamente utilizados em diversas aplicações, como automação industrial, casas inteligentes, monitoramento ambiental, saúde e transporte.</a:t>
            </a:r>
            <a:endParaRPr lang="pt-AO" sz="2400" kern="100" dirty="0">
              <a:solidFill>
                <a:srgbClr val="000000"/>
              </a:solidFill>
              <a:effectLst/>
              <a:latin typeface="Arial" panose="020B0604020202020204" pitchFamily="34" charset="0"/>
              <a:ea typeface="Arial" panose="020B0604020202020204" pitchFamily="34" charset="0"/>
            </a:endParaRPr>
          </a:p>
          <a:p>
            <a:endParaRPr lang="pt-AO" dirty="0"/>
          </a:p>
        </p:txBody>
      </p:sp>
      <p:pic>
        <p:nvPicPr>
          <p:cNvPr id="5" name="Espaço Reservado para Conteúdo 4">
            <a:extLst>
              <a:ext uri="{FF2B5EF4-FFF2-40B4-BE49-F238E27FC236}">
                <a16:creationId xmlns:a16="http://schemas.microsoft.com/office/drawing/2014/main" id="{E3B3BA9D-630D-A62D-52F7-02D44FDE6ED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069015" y="2194559"/>
            <a:ext cx="3505199" cy="3078322"/>
          </a:xfrm>
          <a:prstGeom prst="rect">
            <a:avLst/>
          </a:prstGeom>
          <a:noFill/>
          <a:ln>
            <a:noFill/>
          </a:ln>
        </p:spPr>
      </p:pic>
    </p:spTree>
    <p:extLst>
      <p:ext uri="{BB962C8B-B14F-4D97-AF65-F5344CB8AC3E}">
        <p14:creationId xmlns:p14="http://schemas.microsoft.com/office/powerpoint/2010/main" val="1863589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0F536D-619A-74EF-9048-451A3BC8949F}"/>
              </a:ext>
            </a:extLst>
          </p:cNvPr>
          <p:cNvSpPr>
            <a:spLocks noGrp="1"/>
          </p:cNvSpPr>
          <p:nvPr>
            <p:ph type="title"/>
          </p:nvPr>
        </p:nvSpPr>
        <p:spPr>
          <a:xfrm>
            <a:off x="351692" y="199292"/>
            <a:ext cx="11154508" cy="6459415"/>
          </a:xfrm>
        </p:spPr>
        <p:txBody>
          <a:bodyPr>
            <a:normAutofit/>
          </a:bodyPr>
          <a:lstStyle/>
          <a:p>
            <a:pPr marL="243840" marR="2540" indent="-234950" algn="l">
              <a:lnSpc>
                <a:spcPct val="150000"/>
              </a:lnSpc>
              <a:spcAft>
                <a:spcPts val="800"/>
              </a:spcAft>
            </a:pPr>
            <a:r>
              <a:rPr lang="pt-PT" sz="2400" b="1" kern="100" dirty="0">
                <a:solidFill>
                  <a:srgbClr val="000000"/>
                </a:solidFill>
                <a:effectLst/>
                <a:latin typeface="Times New Roman" panose="02020603050405020304" pitchFamily="18" charset="0"/>
                <a:ea typeface="Arial" panose="020B0604020202020204" pitchFamily="34" charset="0"/>
              </a:rPr>
              <a:t>                             </a:t>
            </a:r>
            <a:r>
              <a:rPr lang="pt-AO" sz="2400" b="1" kern="100" dirty="0">
                <a:solidFill>
                  <a:srgbClr val="000000"/>
                </a:solidFill>
                <a:effectLst/>
                <a:latin typeface="Times New Roman" panose="02020603050405020304" pitchFamily="18" charset="0"/>
                <a:ea typeface="Arial" panose="020B0604020202020204" pitchFamily="34" charset="0"/>
              </a:rPr>
              <a:t>Como funciona um sistema de sensores:</a:t>
            </a:r>
            <a:br>
              <a:rPr lang="pt-AO" sz="2400" kern="100" dirty="0">
                <a:solidFill>
                  <a:srgbClr val="000000"/>
                </a:solidFill>
                <a:effectLst/>
                <a:latin typeface="Arial" panose="020B0604020202020204" pitchFamily="34" charset="0"/>
                <a:ea typeface="Arial" panose="020B0604020202020204" pitchFamily="34" charset="0"/>
              </a:rPr>
            </a:br>
            <a:r>
              <a:rPr lang="pt-AO" sz="2000" b="1" kern="100" cap="none" dirty="0">
                <a:solidFill>
                  <a:srgbClr val="000000"/>
                </a:solidFill>
                <a:effectLst/>
                <a:latin typeface="Times New Roman" panose="02020603050405020304" pitchFamily="18" charset="0"/>
                <a:ea typeface="Arial" panose="020B0604020202020204" pitchFamily="34" charset="0"/>
              </a:rPr>
              <a:t>Sensores</a:t>
            </a:r>
            <a:r>
              <a:rPr lang="pt-AO" sz="2000" kern="100" cap="none" dirty="0">
                <a:solidFill>
                  <a:srgbClr val="000000"/>
                </a:solidFill>
                <a:effectLst/>
                <a:latin typeface="Times New Roman" panose="02020603050405020304" pitchFamily="18" charset="0"/>
                <a:ea typeface="Arial" panose="020B0604020202020204" pitchFamily="34" charset="0"/>
              </a:rPr>
              <a:t>: dispositivos que detectam uma mudança em seu ambiente. Existem diferentes tipos de sensores, como:</a:t>
            </a:r>
            <a:br>
              <a:rPr lang="pt-AO" sz="2000" kern="100" cap="none" dirty="0">
                <a:solidFill>
                  <a:srgbClr val="000000"/>
                </a:solidFill>
                <a:effectLst/>
                <a:latin typeface="Arial" panose="020B0604020202020204" pitchFamily="34" charset="0"/>
                <a:ea typeface="Arial" panose="020B0604020202020204" pitchFamily="34" charset="0"/>
              </a:rPr>
            </a:br>
            <a:r>
              <a:rPr lang="pt-AO" sz="2000" b="1" kern="100" cap="none"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sensores de temperatura</a:t>
            </a:r>
            <a:r>
              <a:rPr lang="pt-AO" sz="2000" kern="100" cap="none"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medem a temperatura ambiente.</a:t>
            </a:r>
            <a:br>
              <a:rPr lang="pt-AO" sz="2000" kern="100" cap="non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br>
            <a:r>
              <a:rPr lang="pt-AO" sz="2000" b="1" kern="100" cap="none"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Sensores de umidade</a:t>
            </a:r>
            <a:r>
              <a:rPr lang="pt-AO" sz="2000" kern="100" cap="none"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medem a umidade do ar.</a:t>
            </a:r>
            <a:br>
              <a:rPr lang="pt-AO" sz="2000" kern="100" cap="non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br>
            <a:r>
              <a:rPr lang="pt-AO" sz="2000" b="1" kern="100" cap="none"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Sensores de movimento</a:t>
            </a:r>
            <a:r>
              <a:rPr lang="pt-AO" sz="2000" kern="100" cap="none"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detectam a presença ou movimento de objetos.</a:t>
            </a:r>
            <a:br>
              <a:rPr lang="pt-AO" sz="2000" kern="100" cap="non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br>
            <a:r>
              <a:rPr lang="pt-AO" sz="2000" b="1" kern="100" cap="none"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Sensores de pressão</a:t>
            </a:r>
            <a:r>
              <a:rPr lang="pt-AO" sz="2000" kern="100" cap="none"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medem a pressão atmosférica ou de fluidos.</a:t>
            </a:r>
            <a:br>
              <a:rPr lang="pt-AO" sz="2000" kern="100" cap="non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br>
            <a:r>
              <a:rPr lang="pt-AO" sz="2000" b="1" kern="100" cap="none"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Sensores de luz</a:t>
            </a:r>
            <a:r>
              <a:rPr lang="pt-AO" sz="2000" kern="100" cap="none"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detectam a intensidade da luz.</a:t>
            </a:r>
            <a:br>
              <a:rPr lang="pt-AO" sz="2000" kern="100" cap="non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br>
            <a:r>
              <a:rPr lang="pt-AO" sz="2000" b="1" kern="100" cap="none" dirty="0">
                <a:solidFill>
                  <a:srgbClr val="000000"/>
                </a:solidFill>
                <a:effectLst/>
                <a:latin typeface="Times New Roman" panose="02020603050405020304" pitchFamily="18" charset="0"/>
                <a:ea typeface="Arial" panose="020B0604020202020204" pitchFamily="34" charset="0"/>
              </a:rPr>
              <a:t>Aquisição de dados</a:t>
            </a:r>
            <a:r>
              <a:rPr lang="pt-AO" sz="2000" kern="100" cap="none" dirty="0">
                <a:solidFill>
                  <a:srgbClr val="000000"/>
                </a:solidFill>
                <a:effectLst/>
                <a:latin typeface="Times New Roman" panose="02020603050405020304" pitchFamily="18" charset="0"/>
                <a:ea typeface="Arial" panose="020B0604020202020204" pitchFamily="34" charset="0"/>
              </a:rPr>
              <a:t>: os sensores coletam dados em tempo real, convertendo as medições físicas em sinais elétricos ou digitais.</a:t>
            </a:r>
            <a:br>
              <a:rPr lang="pt-AO" sz="2000" kern="100" cap="none" dirty="0">
                <a:solidFill>
                  <a:srgbClr val="000000"/>
                </a:solidFill>
                <a:effectLst/>
                <a:latin typeface="Arial" panose="020B0604020202020204" pitchFamily="34" charset="0"/>
                <a:ea typeface="Arial" panose="020B0604020202020204" pitchFamily="34" charset="0"/>
              </a:rPr>
            </a:br>
            <a:endParaRPr lang="pt-AO" sz="2000" dirty="0"/>
          </a:p>
        </p:txBody>
      </p:sp>
    </p:spTree>
    <p:extLst>
      <p:ext uri="{BB962C8B-B14F-4D97-AF65-F5344CB8AC3E}">
        <p14:creationId xmlns:p14="http://schemas.microsoft.com/office/powerpoint/2010/main" val="1201011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C4CF18-2510-3BCB-74C5-787786EF87DE}"/>
              </a:ext>
            </a:extLst>
          </p:cNvPr>
          <p:cNvSpPr>
            <a:spLocks noGrp="1"/>
          </p:cNvSpPr>
          <p:nvPr>
            <p:ph type="title"/>
          </p:nvPr>
        </p:nvSpPr>
        <p:spPr>
          <a:xfrm>
            <a:off x="152400" y="93785"/>
            <a:ext cx="11353800" cy="6623538"/>
          </a:xfrm>
        </p:spPr>
        <p:txBody>
          <a:bodyPr>
            <a:normAutofit/>
          </a:bodyPr>
          <a:lstStyle/>
          <a:p>
            <a:pPr algn="l"/>
            <a:r>
              <a:rPr lang="pt-AO" sz="2000" b="1" kern="100" cap="none" dirty="0">
                <a:solidFill>
                  <a:srgbClr val="000000"/>
                </a:solidFill>
                <a:effectLst/>
                <a:latin typeface="Times New Roman" panose="02020603050405020304" pitchFamily="18" charset="0"/>
                <a:ea typeface="Arial" panose="020B0604020202020204" pitchFamily="34" charset="0"/>
              </a:rPr>
              <a:t>Processamento</a:t>
            </a:r>
            <a:r>
              <a:rPr lang="pt-AO" sz="2000" kern="100" cap="none" dirty="0">
                <a:solidFill>
                  <a:srgbClr val="000000"/>
                </a:solidFill>
                <a:effectLst/>
                <a:latin typeface="Times New Roman" panose="02020603050405020304" pitchFamily="18" charset="0"/>
                <a:ea typeface="Arial" panose="020B0604020202020204" pitchFamily="34" charset="0"/>
              </a:rPr>
              <a:t>: os sinais coletados são enviados a um microcontrolador, processador ou sistema computacional que interpreta os dados. Isso pode incluir filtragem, análise e tomada de decisões com base nas informações.</a:t>
            </a:r>
            <a:br>
              <a:rPr lang="pt-PT" sz="2000" kern="100" cap="none" dirty="0">
                <a:solidFill>
                  <a:srgbClr val="000000"/>
                </a:solidFill>
                <a:effectLst/>
                <a:latin typeface="Times New Roman" panose="02020603050405020304" pitchFamily="18" charset="0"/>
                <a:ea typeface="Arial" panose="020B0604020202020204" pitchFamily="34" charset="0"/>
              </a:rPr>
            </a:br>
            <a:br>
              <a:rPr lang="pt-AO" sz="2000" kern="100" cap="none" dirty="0">
                <a:solidFill>
                  <a:srgbClr val="000000"/>
                </a:solidFill>
                <a:effectLst/>
                <a:latin typeface="Arial" panose="020B0604020202020204" pitchFamily="34" charset="0"/>
                <a:ea typeface="Arial" panose="020B0604020202020204" pitchFamily="34" charset="0"/>
              </a:rPr>
            </a:br>
            <a:r>
              <a:rPr lang="pt-AO" sz="2000" b="1" kern="100" cap="none" dirty="0">
                <a:solidFill>
                  <a:srgbClr val="000000"/>
                </a:solidFill>
                <a:effectLst/>
                <a:latin typeface="Times New Roman" panose="02020603050405020304" pitchFamily="18" charset="0"/>
                <a:ea typeface="Arial" panose="020B0604020202020204" pitchFamily="34" charset="0"/>
              </a:rPr>
              <a:t>Transmissão</a:t>
            </a:r>
            <a:r>
              <a:rPr lang="pt-AO" sz="2000" kern="100" cap="none" dirty="0">
                <a:solidFill>
                  <a:srgbClr val="000000"/>
                </a:solidFill>
                <a:effectLst/>
                <a:latin typeface="Times New Roman" panose="02020603050405020304" pitchFamily="18" charset="0"/>
                <a:ea typeface="Arial" panose="020B0604020202020204" pitchFamily="34" charset="0"/>
              </a:rPr>
              <a:t>: os dados processados podem ser transmitidos para um sistema central, como um servidor na nuvem, ou para um dispositivo local, onde podem ser armazenados ou usados em tempo real.</a:t>
            </a:r>
            <a:br>
              <a:rPr lang="pt-PT" sz="2000" kern="100" cap="none" dirty="0">
                <a:solidFill>
                  <a:srgbClr val="000000"/>
                </a:solidFill>
                <a:effectLst/>
                <a:latin typeface="Times New Roman" panose="02020603050405020304" pitchFamily="18" charset="0"/>
                <a:ea typeface="Arial" panose="020B0604020202020204" pitchFamily="34" charset="0"/>
              </a:rPr>
            </a:br>
            <a:br>
              <a:rPr lang="pt-AO" sz="2000" kern="100" cap="none" dirty="0">
                <a:solidFill>
                  <a:srgbClr val="000000"/>
                </a:solidFill>
                <a:effectLst/>
                <a:latin typeface="Arial" panose="020B0604020202020204" pitchFamily="34" charset="0"/>
                <a:ea typeface="Arial" panose="020B0604020202020204" pitchFamily="34" charset="0"/>
              </a:rPr>
            </a:br>
            <a:r>
              <a:rPr lang="pt-AO" sz="2000" b="1" kern="100" cap="none" dirty="0">
                <a:solidFill>
                  <a:srgbClr val="000000"/>
                </a:solidFill>
                <a:effectLst/>
                <a:latin typeface="Times New Roman" panose="02020603050405020304" pitchFamily="18" charset="0"/>
                <a:ea typeface="Arial" panose="020B0604020202020204" pitchFamily="34" charset="0"/>
              </a:rPr>
              <a:t>Ação</a:t>
            </a:r>
            <a:r>
              <a:rPr lang="pt-AO" sz="2000" kern="100" cap="none" dirty="0">
                <a:solidFill>
                  <a:srgbClr val="000000"/>
                </a:solidFill>
                <a:effectLst/>
                <a:latin typeface="Times New Roman" panose="02020603050405020304" pitchFamily="18" charset="0"/>
                <a:ea typeface="Arial" panose="020B0604020202020204" pitchFamily="34" charset="0"/>
              </a:rPr>
              <a:t>: com base nas informações recebidas, o sistema pode executar ações automáticas, como ajustar a temperatura de um termostato, ativar um alarme de segurança ou enviar notificações a usuários.</a:t>
            </a:r>
            <a:br>
              <a:rPr lang="pt-PT" sz="2000" kern="100" cap="none" dirty="0">
                <a:solidFill>
                  <a:srgbClr val="000000"/>
                </a:solidFill>
                <a:effectLst/>
                <a:latin typeface="Times New Roman" panose="02020603050405020304" pitchFamily="18" charset="0"/>
                <a:ea typeface="Arial" panose="020B0604020202020204" pitchFamily="34" charset="0"/>
              </a:rPr>
            </a:br>
            <a:br>
              <a:rPr lang="pt-AO" sz="2000" kern="100" cap="none" dirty="0">
                <a:solidFill>
                  <a:srgbClr val="000000"/>
                </a:solidFill>
                <a:effectLst/>
                <a:latin typeface="Arial" panose="020B0604020202020204" pitchFamily="34" charset="0"/>
                <a:ea typeface="Arial" panose="020B0604020202020204" pitchFamily="34" charset="0"/>
              </a:rPr>
            </a:br>
            <a:r>
              <a:rPr lang="pt-AO" sz="2000" b="1" kern="100" cap="none" dirty="0">
                <a:solidFill>
                  <a:srgbClr val="000000"/>
                </a:solidFill>
                <a:effectLst/>
                <a:latin typeface="Times New Roman" panose="02020603050405020304" pitchFamily="18" charset="0"/>
                <a:ea typeface="Arial" panose="020B0604020202020204" pitchFamily="34" charset="0"/>
              </a:rPr>
              <a:t>Interface do usuário</a:t>
            </a:r>
            <a:r>
              <a:rPr lang="pt-AO" sz="2000" kern="100" cap="none" dirty="0">
                <a:solidFill>
                  <a:srgbClr val="000000"/>
                </a:solidFill>
                <a:effectLst/>
                <a:latin typeface="Times New Roman" panose="02020603050405020304" pitchFamily="18" charset="0"/>
                <a:ea typeface="Arial" panose="020B0604020202020204" pitchFamily="34" charset="0"/>
              </a:rPr>
              <a:t>: muitas vezes, os dados coletados são apresentados em interfaces gráficas ou aplicativos, permitindo que os usuários visualizem e interajam com as informações.</a:t>
            </a:r>
            <a:br>
              <a:rPr lang="pt-AO" sz="2000" kern="100" cap="none" dirty="0">
                <a:solidFill>
                  <a:srgbClr val="000000"/>
                </a:solidFill>
                <a:effectLst/>
                <a:latin typeface="Arial" panose="020B0604020202020204" pitchFamily="34" charset="0"/>
                <a:ea typeface="Arial" panose="020B0604020202020204" pitchFamily="34" charset="0"/>
              </a:rPr>
            </a:br>
            <a:endParaRPr lang="pt-AO" sz="2000" cap="none" dirty="0"/>
          </a:p>
        </p:txBody>
      </p:sp>
    </p:spTree>
    <p:extLst>
      <p:ext uri="{BB962C8B-B14F-4D97-AF65-F5344CB8AC3E}">
        <p14:creationId xmlns:p14="http://schemas.microsoft.com/office/powerpoint/2010/main" val="1210900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3DBB42-80FE-AF9F-5726-19A1310C9743}"/>
              </a:ext>
            </a:extLst>
          </p:cNvPr>
          <p:cNvSpPr>
            <a:spLocks noGrp="1"/>
          </p:cNvSpPr>
          <p:nvPr>
            <p:ph type="title"/>
          </p:nvPr>
        </p:nvSpPr>
        <p:spPr>
          <a:xfrm>
            <a:off x="152400" y="199292"/>
            <a:ext cx="11353800" cy="6318739"/>
          </a:xfrm>
        </p:spPr>
        <p:txBody>
          <a:bodyPr>
            <a:normAutofit fontScale="90000"/>
          </a:bodyPr>
          <a:lstStyle/>
          <a:p>
            <a:pPr marL="243840" marR="2540" indent="-234950" algn="l">
              <a:lnSpc>
                <a:spcPct val="150000"/>
              </a:lnSpc>
              <a:spcAft>
                <a:spcPts val="800"/>
              </a:spcAft>
            </a:pPr>
            <a:r>
              <a:rPr lang="pt-AO" sz="2200" b="1" kern="100" dirty="0">
                <a:solidFill>
                  <a:srgbClr val="000000"/>
                </a:solidFill>
                <a:effectLst/>
                <a:latin typeface="Times New Roman" panose="02020603050405020304" pitchFamily="18" charset="0"/>
                <a:ea typeface="Arial" panose="020B0604020202020204" pitchFamily="34" charset="0"/>
              </a:rPr>
              <a:t>Vantagens:</a:t>
            </a:r>
            <a:br>
              <a:rPr lang="pt-AO" sz="1800" kern="100" dirty="0">
                <a:solidFill>
                  <a:srgbClr val="000000"/>
                </a:solidFill>
                <a:effectLst/>
                <a:latin typeface="Arial" panose="020B0604020202020204" pitchFamily="34" charset="0"/>
                <a:ea typeface="Arial" panose="020B0604020202020204" pitchFamily="34" charset="0"/>
              </a:rPr>
            </a:br>
            <a:r>
              <a:rPr lang="pt-AO" sz="1800" b="1" kern="100" cap="none" dirty="0">
                <a:solidFill>
                  <a:srgbClr val="000000"/>
                </a:solidFill>
                <a:effectLst/>
                <a:latin typeface="Times New Roman" panose="02020603050405020304" pitchFamily="18" charset="0"/>
                <a:ea typeface="Arial" panose="020B0604020202020204" pitchFamily="34" charset="0"/>
              </a:rPr>
              <a:t>Monitoramento em tempo real</a:t>
            </a:r>
            <a:r>
              <a:rPr lang="pt-AO" sz="1800" kern="100" cap="none" dirty="0">
                <a:solidFill>
                  <a:srgbClr val="000000"/>
                </a:solidFill>
                <a:effectLst/>
                <a:latin typeface="Times New Roman" panose="02020603050405020304" pitchFamily="18" charset="0"/>
                <a:ea typeface="Arial" panose="020B0604020202020204" pitchFamily="34" charset="0"/>
              </a:rPr>
              <a:t>: permitem a coleta de dados instantânea, possibilitando a tomada de decisões rápidas.</a:t>
            </a:r>
            <a:br>
              <a:rPr lang="pt-AO" sz="1800" kern="100" cap="none" dirty="0">
                <a:solidFill>
                  <a:srgbClr val="000000"/>
                </a:solidFill>
                <a:effectLst/>
                <a:latin typeface="Arial" panose="020B0604020202020204" pitchFamily="34" charset="0"/>
                <a:ea typeface="Arial" panose="020B0604020202020204" pitchFamily="34" charset="0"/>
              </a:rPr>
            </a:br>
            <a:r>
              <a:rPr lang="pt-AO" sz="1800" b="1" kern="100" cap="none" dirty="0">
                <a:solidFill>
                  <a:srgbClr val="000000"/>
                </a:solidFill>
                <a:effectLst/>
                <a:latin typeface="Times New Roman" panose="02020603050405020304" pitchFamily="18" charset="0"/>
                <a:ea typeface="Arial" panose="020B0604020202020204" pitchFamily="34" charset="0"/>
              </a:rPr>
              <a:t>Automação</a:t>
            </a:r>
            <a:r>
              <a:rPr lang="pt-AO" sz="1800" kern="100" cap="none" dirty="0">
                <a:solidFill>
                  <a:srgbClr val="000000"/>
                </a:solidFill>
                <a:effectLst/>
                <a:latin typeface="Times New Roman" panose="02020603050405020304" pitchFamily="18" charset="0"/>
                <a:ea typeface="Arial" panose="020B0604020202020204" pitchFamily="34" charset="0"/>
              </a:rPr>
              <a:t>: podem acionar processos automaticamente, aumentando a eficiência e reduzindo a necessidade de intervenção manual.</a:t>
            </a:r>
            <a:br>
              <a:rPr lang="pt-AO" sz="1800" kern="100" cap="none" dirty="0">
                <a:solidFill>
                  <a:srgbClr val="000000"/>
                </a:solidFill>
                <a:effectLst/>
                <a:latin typeface="Arial" panose="020B0604020202020204" pitchFamily="34" charset="0"/>
                <a:ea typeface="Arial" panose="020B0604020202020204" pitchFamily="34" charset="0"/>
              </a:rPr>
            </a:br>
            <a:r>
              <a:rPr lang="pt-AO" sz="1800" b="1" kern="100" cap="none" dirty="0">
                <a:solidFill>
                  <a:srgbClr val="000000"/>
                </a:solidFill>
                <a:effectLst/>
                <a:latin typeface="Times New Roman" panose="02020603050405020304" pitchFamily="18" charset="0"/>
                <a:ea typeface="Arial" panose="020B0604020202020204" pitchFamily="34" charset="0"/>
              </a:rPr>
              <a:t>Precisão e confiabilidade</a:t>
            </a:r>
            <a:r>
              <a:rPr lang="pt-AO" sz="1800" kern="100" cap="none" dirty="0">
                <a:solidFill>
                  <a:srgbClr val="000000"/>
                </a:solidFill>
                <a:effectLst/>
                <a:latin typeface="Times New Roman" panose="02020603050405020304" pitchFamily="18" charset="0"/>
                <a:ea typeface="Arial" panose="020B0604020202020204" pitchFamily="34" charset="0"/>
              </a:rPr>
              <a:t>: sensores modernos oferecem medições precisas, o que é crucial em aplicações críticas, como saúde e segurança.</a:t>
            </a:r>
            <a:br>
              <a:rPr lang="pt-AO" sz="1800" kern="100" cap="none" dirty="0">
                <a:solidFill>
                  <a:srgbClr val="000000"/>
                </a:solidFill>
                <a:effectLst/>
                <a:latin typeface="Arial" panose="020B0604020202020204" pitchFamily="34" charset="0"/>
                <a:ea typeface="Arial" panose="020B0604020202020204" pitchFamily="34" charset="0"/>
              </a:rPr>
            </a:br>
            <a:r>
              <a:rPr lang="pt-AO" sz="1800" b="1" kern="100" cap="none" dirty="0">
                <a:solidFill>
                  <a:srgbClr val="000000"/>
                </a:solidFill>
                <a:effectLst/>
                <a:latin typeface="Times New Roman" panose="02020603050405020304" pitchFamily="18" charset="0"/>
                <a:ea typeface="Arial" panose="020B0604020202020204" pitchFamily="34" charset="0"/>
              </a:rPr>
              <a:t>Escalabilidade</a:t>
            </a:r>
            <a:r>
              <a:rPr lang="pt-AO" sz="1800" kern="100" cap="none" dirty="0">
                <a:solidFill>
                  <a:srgbClr val="000000"/>
                </a:solidFill>
                <a:effectLst/>
                <a:latin typeface="Times New Roman" panose="02020603050405020304" pitchFamily="18" charset="0"/>
                <a:ea typeface="Arial" panose="020B0604020202020204" pitchFamily="34" charset="0"/>
              </a:rPr>
              <a:t>: É fácil adicionar novos sensores ao sistema para monitorar diferentes parâmetros, permitindo uma personalização conforme a necessidade.</a:t>
            </a:r>
            <a:br>
              <a:rPr lang="pt-AO" sz="1800" kern="100" cap="none" dirty="0">
                <a:solidFill>
                  <a:srgbClr val="000000"/>
                </a:solidFill>
                <a:effectLst/>
                <a:latin typeface="Arial" panose="020B0604020202020204" pitchFamily="34" charset="0"/>
                <a:ea typeface="Arial" panose="020B0604020202020204" pitchFamily="34" charset="0"/>
              </a:rPr>
            </a:br>
            <a:r>
              <a:rPr lang="pt-AO" sz="1800" b="1" kern="100" cap="none" dirty="0">
                <a:solidFill>
                  <a:srgbClr val="000000"/>
                </a:solidFill>
                <a:effectLst/>
                <a:latin typeface="Times New Roman" panose="02020603050405020304" pitchFamily="18" charset="0"/>
                <a:ea typeface="Arial" panose="020B0604020202020204" pitchFamily="34" charset="0"/>
              </a:rPr>
              <a:t>Eficiência energética</a:t>
            </a:r>
            <a:r>
              <a:rPr lang="pt-AO" sz="1800" kern="100" cap="none" dirty="0">
                <a:solidFill>
                  <a:srgbClr val="000000"/>
                </a:solidFill>
                <a:effectLst/>
                <a:latin typeface="Times New Roman" panose="02020603050405020304" pitchFamily="18" charset="0"/>
                <a:ea typeface="Arial" panose="020B0604020202020204" pitchFamily="34" charset="0"/>
              </a:rPr>
              <a:t>: muitos sensores são projetados para consumir pouca energia, permitindo longos períodos de operação sem necessidade de troca de bateria.</a:t>
            </a:r>
            <a:br>
              <a:rPr lang="pt-AO" sz="1800" kern="100" cap="none" dirty="0">
                <a:solidFill>
                  <a:srgbClr val="000000"/>
                </a:solidFill>
                <a:effectLst/>
                <a:latin typeface="Arial" panose="020B0604020202020204" pitchFamily="34" charset="0"/>
                <a:ea typeface="Arial" panose="020B0604020202020204" pitchFamily="34" charset="0"/>
              </a:rPr>
            </a:br>
            <a:r>
              <a:rPr lang="pt-AO" sz="1800" b="1" kern="100" cap="none" dirty="0">
                <a:solidFill>
                  <a:srgbClr val="000000"/>
                </a:solidFill>
                <a:effectLst/>
                <a:latin typeface="Times New Roman" panose="02020603050405020304" pitchFamily="18" charset="0"/>
                <a:ea typeface="Arial" panose="020B0604020202020204" pitchFamily="34" charset="0"/>
              </a:rPr>
              <a:t>Coleta de dados</a:t>
            </a:r>
            <a:r>
              <a:rPr lang="pt-AO" sz="1800" kern="100" cap="none" dirty="0">
                <a:solidFill>
                  <a:srgbClr val="000000"/>
                </a:solidFill>
                <a:effectLst/>
                <a:latin typeface="Times New Roman" panose="02020603050405020304" pitchFamily="18" charset="0"/>
                <a:ea typeface="Arial" panose="020B0604020202020204" pitchFamily="34" charset="0"/>
              </a:rPr>
              <a:t>: fornecem uma grande quantidade de dados que podem ser analisados para insights valiosos e melhorias em processos.</a:t>
            </a:r>
            <a:br>
              <a:rPr lang="pt-AO" sz="1800" kern="100" cap="none" dirty="0">
                <a:solidFill>
                  <a:srgbClr val="000000"/>
                </a:solidFill>
                <a:effectLst/>
                <a:latin typeface="Arial" panose="020B0604020202020204" pitchFamily="34" charset="0"/>
                <a:ea typeface="Arial" panose="020B0604020202020204" pitchFamily="34" charset="0"/>
              </a:rPr>
            </a:br>
            <a:r>
              <a:rPr lang="pt-AO" sz="1800" b="1" kern="100" cap="none" dirty="0">
                <a:solidFill>
                  <a:srgbClr val="000000"/>
                </a:solidFill>
                <a:effectLst/>
                <a:latin typeface="Times New Roman" panose="02020603050405020304" pitchFamily="18" charset="0"/>
                <a:ea typeface="Arial" panose="020B0604020202020204" pitchFamily="34" charset="0"/>
              </a:rPr>
              <a:t>Segurança</a:t>
            </a:r>
            <a:r>
              <a:rPr lang="pt-AO" sz="1800" kern="100" cap="none" dirty="0">
                <a:solidFill>
                  <a:srgbClr val="000000"/>
                </a:solidFill>
                <a:effectLst/>
                <a:latin typeface="Times New Roman" panose="02020603050405020304" pitchFamily="18" charset="0"/>
                <a:ea typeface="Arial" panose="020B0604020202020204" pitchFamily="34" charset="0"/>
              </a:rPr>
              <a:t>: sensores de segurança, como câmeras e detectores de movimento, ajudam a monitorar ambientes e aumentar a proteção.</a:t>
            </a:r>
            <a:br>
              <a:rPr lang="pt-AO" sz="1800" kern="100" cap="none" dirty="0">
                <a:solidFill>
                  <a:srgbClr val="000000"/>
                </a:solidFill>
                <a:effectLst/>
                <a:latin typeface="Arial" panose="020B0604020202020204" pitchFamily="34" charset="0"/>
                <a:ea typeface="Arial" panose="020B0604020202020204" pitchFamily="34" charset="0"/>
              </a:rPr>
            </a:br>
            <a:endParaRPr lang="pt-AO" dirty="0"/>
          </a:p>
        </p:txBody>
      </p:sp>
    </p:spTree>
    <p:extLst>
      <p:ext uri="{BB962C8B-B14F-4D97-AF65-F5344CB8AC3E}">
        <p14:creationId xmlns:p14="http://schemas.microsoft.com/office/powerpoint/2010/main" val="2771745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50626B-0C30-DE52-1004-BD57AF9A65A1}"/>
              </a:ext>
            </a:extLst>
          </p:cNvPr>
          <p:cNvSpPr>
            <a:spLocks noGrp="1"/>
          </p:cNvSpPr>
          <p:nvPr>
            <p:ph type="title"/>
          </p:nvPr>
        </p:nvSpPr>
        <p:spPr>
          <a:xfrm>
            <a:off x="222738" y="222738"/>
            <a:ext cx="11283462" cy="6412524"/>
          </a:xfrm>
        </p:spPr>
        <p:txBody>
          <a:bodyPr>
            <a:normAutofit/>
          </a:bodyPr>
          <a:lstStyle/>
          <a:p>
            <a:pPr marL="243840" marR="2540" indent="-234950" algn="l">
              <a:lnSpc>
                <a:spcPct val="150000"/>
              </a:lnSpc>
              <a:spcAft>
                <a:spcPts val="800"/>
              </a:spcAft>
            </a:pPr>
            <a:r>
              <a:rPr lang="pt-AO" sz="1800" b="1" kern="100" dirty="0">
                <a:solidFill>
                  <a:srgbClr val="000000"/>
                </a:solidFill>
                <a:effectLst/>
                <a:latin typeface="Times New Roman" panose="02020603050405020304" pitchFamily="18" charset="0"/>
                <a:ea typeface="Arial" panose="020B0604020202020204" pitchFamily="34" charset="0"/>
              </a:rPr>
              <a:t>Desvantagens:</a:t>
            </a:r>
            <a:br>
              <a:rPr lang="pt-AO" sz="1800" kern="100" dirty="0">
                <a:solidFill>
                  <a:srgbClr val="000000"/>
                </a:solidFill>
                <a:effectLst/>
                <a:latin typeface="Arial" panose="020B0604020202020204" pitchFamily="34" charset="0"/>
                <a:ea typeface="Arial" panose="020B0604020202020204" pitchFamily="34" charset="0"/>
              </a:rPr>
            </a:br>
            <a:r>
              <a:rPr lang="pt-AO" sz="1800" b="1" kern="100" cap="none" dirty="0">
                <a:solidFill>
                  <a:srgbClr val="000000"/>
                </a:solidFill>
                <a:effectLst/>
                <a:latin typeface="Times New Roman" panose="02020603050405020304" pitchFamily="18" charset="0"/>
                <a:ea typeface="Arial" panose="020B0604020202020204" pitchFamily="34" charset="0"/>
              </a:rPr>
              <a:t>Custo</a:t>
            </a:r>
            <a:r>
              <a:rPr lang="pt-AO" sz="1800" kern="100" cap="none" dirty="0">
                <a:solidFill>
                  <a:srgbClr val="000000"/>
                </a:solidFill>
                <a:effectLst/>
                <a:latin typeface="Times New Roman" panose="02020603050405020304" pitchFamily="18" charset="0"/>
                <a:ea typeface="Arial" panose="020B0604020202020204" pitchFamily="34" charset="0"/>
              </a:rPr>
              <a:t>: A aquisição e instalação de sensores, especialmente em larga escala, pode ser cara.</a:t>
            </a:r>
            <a:br>
              <a:rPr lang="pt-AO" sz="1800" kern="100" cap="none" dirty="0">
                <a:solidFill>
                  <a:srgbClr val="000000"/>
                </a:solidFill>
                <a:effectLst/>
                <a:latin typeface="Arial" panose="020B0604020202020204" pitchFamily="34" charset="0"/>
                <a:ea typeface="Arial" panose="020B0604020202020204" pitchFamily="34" charset="0"/>
              </a:rPr>
            </a:br>
            <a:r>
              <a:rPr lang="pt-AO" sz="1800" b="1" kern="100" cap="none" dirty="0">
                <a:solidFill>
                  <a:srgbClr val="000000"/>
                </a:solidFill>
                <a:effectLst/>
                <a:latin typeface="Times New Roman" panose="02020603050405020304" pitchFamily="18" charset="0"/>
                <a:ea typeface="Arial" panose="020B0604020202020204" pitchFamily="34" charset="0"/>
              </a:rPr>
              <a:t>Manutenção</a:t>
            </a:r>
            <a:r>
              <a:rPr lang="pt-AO" sz="1800" kern="100" cap="none" dirty="0">
                <a:solidFill>
                  <a:srgbClr val="000000"/>
                </a:solidFill>
                <a:effectLst/>
                <a:latin typeface="Times New Roman" panose="02020603050405020304" pitchFamily="18" charset="0"/>
                <a:ea typeface="Arial" panose="020B0604020202020204" pitchFamily="34" charset="0"/>
              </a:rPr>
              <a:t>: sensores podem exigir manutenção regular para garantir precisão e funcionamento adequado.</a:t>
            </a:r>
            <a:br>
              <a:rPr lang="pt-AO" sz="1800" kern="100" cap="none" dirty="0">
                <a:solidFill>
                  <a:srgbClr val="000000"/>
                </a:solidFill>
                <a:effectLst/>
                <a:latin typeface="Arial" panose="020B0604020202020204" pitchFamily="34" charset="0"/>
                <a:ea typeface="Arial" panose="020B0604020202020204" pitchFamily="34" charset="0"/>
              </a:rPr>
            </a:br>
            <a:r>
              <a:rPr lang="pt-AO" sz="1800" b="1" kern="100" cap="none" dirty="0">
                <a:solidFill>
                  <a:srgbClr val="000000"/>
                </a:solidFill>
                <a:effectLst/>
                <a:latin typeface="Times New Roman" panose="02020603050405020304" pitchFamily="18" charset="0"/>
                <a:ea typeface="Arial" panose="020B0604020202020204" pitchFamily="34" charset="0"/>
              </a:rPr>
              <a:t>Dependência de tecnologia</a:t>
            </a:r>
            <a:r>
              <a:rPr lang="pt-AO" sz="1800" kern="100" cap="none" dirty="0">
                <a:solidFill>
                  <a:srgbClr val="000000"/>
                </a:solidFill>
                <a:effectLst/>
                <a:latin typeface="Times New Roman" panose="02020603050405020304" pitchFamily="18" charset="0"/>
                <a:ea typeface="Arial" panose="020B0604020202020204" pitchFamily="34" charset="0"/>
              </a:rPr>
              <a:t>: sistemas de sensores podem falhar devido a problemas técnicos, interrupções de energia ou falhas de comunicação.</a:t>
            </a:r>
            <a:br>
              <a:rPr lang="pt-AO" sz="1800" kern="100" cap="none" dirty="0">
                <a:solidFill>
                  <a:srgbClr val="000000"/>
                </a:solidFill>
                <a:effectLst/>
                <a:latin typeface="Arial" panose="020B0604020202020204" pitchFamily="34" charset="0"/>
                <a:ea typeface="Arial" panose="020B0604020202020204" pitchFamily="34" charset="0"/>
              </a:rPr>
            </a:br>
            <a:r>
              <a:rPr lang="pt-AO" sz="1800" kern="100" cap="none" dirty="0">
                <a:solidFill>
                  <a:srgbClr val="000000"/>
                </a:solidFill>
                <a:effectLst/>
                <a:latin typeface="Times New Roman" panose="02020603050405020304" pitchFamily="18" charset="0"/>
                <a:ea typeface="Arial" panose="020B0604020202020204" pitchFamily="34" charset="0"/>
              </a:rPr>
              <a:t> </a:t>
            </a:r>
            <a:br>
              <a:rPr lang="pt-AO" sz="1800" kern="100" cap="none" dirty="0">
                <a:solidFill>
                  <a:srgbClr val="000000"/>
                </a:solidFill>
                <a:effectLst/>
                <a:latin typeface="Arial" panose="020B0604020202020204" pitchFamily="34" charset="0"/>
                <a:ea typeface="Arial" panose="020B0604020202020204" pitchFamily="34" charset="0"/>
              </a:rPr>
            </a:br>
            <a:r>
              <a:rPr lang="pt-AO" sz="1800" kern="100" cap="none" dirty="0">
                <a:solidFill>
                  <a:srgbClr val="000000"/>
                </a:solidFill>
                <a:effectLst/>
                <a:latin typeface="Times New Roman" panose="02020603050405020304" pitchFamily="18" charset="0"/>
                <a:ea typeface="Arial" panose="020B0604020202020204" pitchFamily="34" charset="0"/>
              </a:rPr>
              <a:t> </a:t>
            </a:r>
            <a:br>
              <a:rPr lang="pt-AO" sz="1800" kern="100" cap="none" dirty="0">
                <a:solidFill>
                  <a:srgbClr val="000000"/>
                </a:solidFill>
                <a:effectLst/>
                <a:latin typeface="Arial" panose="020B0604020202020204" pitchFamily="34" charset="0"/>
                <a:ea typeface="Arial" panose="020B0604020202020204" pitchFamily="34" charset="0"/>
              </a:rPr>
            </a:br>
            <a:r>
              <a:rPr lang="pt-AO" sz="1800" b="1" kern="100" cap="none" dirty="0">
                <a:solidFill>
                  <a:srgbClr val="000000"/>
                </a:solidFill>
                <a:effectLst/>
                <a:latin typeface="Times New Roman" panose="02020603050405020304" pitchFamily="18" charset="0"/>
                <a:ea typeface="Arial" panose="020B0604020202020204" pitchFamily="34" charset="0"/>
              </a:rPr>
              <a:t>Privacidade</a:t>
            </a:r>
            <a:r>
              <a:rPr lang="pt-AO" sz="1800" kern="100" cap="none" dirty="0">
                <a:solidFill>
                  <a:srgbClr val="000000"/>
                </a:solidFill>
                <a:effectLst/>
                <a:latin typeface="Times New Roman" panose="02020603050405020304" pitchFamily="18" charset="0"/>
                <a:ea typeface="Arial" panose="020B0604020202020204" pitchFamily="34" charset="0"/>
              </a:rPr>
              <a:t>: sensores que coletam dados, como câmeras e microfones, podem levantar preocupações sobre privacidade e vigilância.</a:t>
            </a:r>
            <a:br>
              <a:rPr lang="pt-AO" sz="1800" kern="100" cap="none" dirty="0">
                <a:solidFill>
                  <a:srgbClr val="000000"/>
                </a:solidFill>
                <a:effectLst/>
                <a:latin typeface="Arial" panose="020B0604020202020204" pitchFamily="34" charset="0"/>
                <a:ea typeface="Arial" panose="020B0604020202020204" pitchFamily="34" charset="0"/>
              </a:rPr>
            </a:br>
            <a:r>
              <a:rPr lang="pt-AO" sz="1800" b="1" kern="100" cap="none" dirty="0">
                <a:solidFill>
                  <a:srgbClr val="000000"/>
                </a:solidFill>
                <a:effectLst/>
                <a:latin typeface="Times New Roman" panose="02020603050405020304" pitchFamily="18" charset="0"/>
                <a:ea typeface="Arial" panose="020B0604020202020204" pitchFamily="34" charset="0"/>
              </a:rPr>
              <a:t>Calibração</a:t>
            </a:r>
            <a:r>
              <a:rPr lang="pt-AO" sz="1800" kern="100" cap="none" dirty="0">
                <a:solidFill>
                  <a:srgbClr val="000000"/>
                </a:solidFill>
                <a:effectLst/>
                <a:latin typeface="Times New Roman" panose="02020603050405020304" pitchFamily="18" charset="0"/>
                <a:ea typeface="Arial" panose="020B0604020202020204" pitchFamily="34" charset="0"/>
              </a:rPr>
              <a:t>: sensores precisam ser calibrados regularmente para manter a precisão, o que pode exigir tempo e recursos.</a:t>
            </a:r>
            <a:br>
              <a:rPr lang="pt-AO" sz="1800" kern="100" cap="none" dirty="0">
                <a:solidFill>
                  <a:srgbClr val="000000"/>
                </a:solidFill>
                <a:effectLst/>
                <a:latin typeface="Arial" panose="020B0604020202020204" pitchFamily="34" charset="0"/>
                <a:ea typeface="Arial" panose="020B0604020202020204" pitchFamily="34" charset="0"/>
              </a:rPr>
            </a:br>
            <a:r>
              <a:rPr lang="pt-AO" sz="1800" b="1" kern="100" cap="none" dirty="0">
                <a:solidFill>
                  <a:srgbClr val="000000"/>
                </a:solidFill>
                <a:effectLst/>
                <a:latin typeface="Times New Roman" panose="02020603050405020304" pitchFamily="18" charset="0"/>
                <a:ea typeface="Arial" panose="020B0604020202020204" pitchFamily="34" charset="0"/>
              </a:rPr>
              <a:t>Vulnerabilidade</a:t>
            </a:r>
            <a:r>
              <a:rPr lang="pt-AO" sz="1800" kern="100" cap="none" dirty="0">
                <a:solidFill>
                  <a:srgbClr val="000000"/>
                </a:solidFill>
                <a:effectLst/>
                <a:latin typeface="Times New Roman" panose="02020603050405020304" pitchFamily="18" charset="0"/>
                <a:ea typeface="Arial" panose="020B0604020202020204" pitchFamily="34" charset="0"/>
              </a:rPr>
              <a:t>: podem ser suscetíveis a interferências externas (como sinais eletromagnéticos) ou ataques cibernéticos, especialmente em sistemas conectados à internet.</a:t>
            </a:r>
            <a:br>
              <a:rPr lang="pt-AO" sz="1800" kern="100" cap="none" dirty="0">
                <a:solidFill>
                  <a:srgbClr val="000000"/>
                </a:solidFill>
                <a:effectLst/>
                <a:latin typeface="Arial" panose="020B0604020202020204" pitchFamily="34" charset="0"/>
                <a:ea typeface="Arial" panose="020B0604020202020204" pitchFamily="34" charset="0"/>
              </a:rPr>
            </a:br>
            <a:endParaRPr lang="pt-AO" dirty="0"/>
          </a:p>
        </p:txBody>
      </p:sp>
    </p:spTree>
    <p:extLst>
      <p:ext uri="{BB962C8B-B14F-4D97-AF65-F5344CB8AC3E}">
        <p14:creationId xmlns:p14="http://schemas.microsoft.com/office/powerpoint/2010/main" val="2498145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963634-C206-05E8-E1F0-44565688DA34}"/>
              </a:ext>
            </a:extLst>
          </p:cNvPr>
          <p:cNvSpPr>
            <a:spLocks noGrp="1"/>
          </p:cNvSpPr>
          <p:nvPr>
            <p:ph type="title"/>
          </p:nvPr>
        </p:nvSpPr>
        <p:spPr>
          <a:xfrm>
            <a:off x="211015" y="764372"/>
            <a:ext cx="11295185" cy="5730213"/>
          </a:xfrm>
        </p:spPr>
        <p:txBody>
          <a:bodyPr>
            <a:normAutofit/>
          </a:bodyPr>
          <a:lstStyle/>
          <a:p>
            <a:pPr marL="5715" marR="2540" indent="-6350" algn="l">
              <a:lnSpc>
                <a:spcPct val="107000"/>
              </a:lnSpc>
              <a:spcAft>
                <a:spcPts val="1265"/>
              </a:spcAft>
            </a:pPr>
            <a:r>
              <a:rPr lang="pt-PT" sz="1800" b="1" kern="100" dirty="0">
                <a:solidFill>
                  <a:srgbClr val="000000"/>
                </a:solidFill>
                <a:effectLst/>
                <a:latin typeface="Times New Roman" panose="02020603050405020304" pitchFamily="18" charset="0"/>
                <a:ea typeface="Times New Roman" panose="02020603050405020304" pitchFamily="18" charset="0"/>
              </a:rPr>
              <a:t>                                                                                </a:t>
            </a:r>
            <a:r>
              <a:rPr lang="pt-AO" sz="1800" b="1" kern="100" dirty="0">
                <a:solidFill>
                  <a:srgbClr val="000000"/>
                </a:solidFill>
                <a:effectLst/>
                <a:latin typeface="Times New Roman" panose="02020603050405020304" pitchFamily="18" charset="0"/>
                <a:ea typeface="Times New Roman" panose="02020603050405020304" pitchFamily="18" charset="0"/>
              </a:rPr>
              <a:t>CONCLUSÃO</a:t>
            </a:r>
            <a:br>
              <a:rPr lang="pt-AO" sz="1800" kern="100" dirty="0">
                <a:solidFill>
                  <a:srgbClr val="000000"/>
                </a:solidFill>
                <a:effectLst/>
                <a:latin typeface="Arial" panose="020B0604020202020204" pitchFamily="34" charset="0"/>
                <a:ea typeface="Arial" panose="020B0604020202020204" pitchFamily="34" charset="0"/>
              </a:rPr>
            </a:br>
            <a:r>
              <a:rPr lang="pt-AO" sz="2800" kern="100" cap="none" dirty="0">
                <a:solidFill>
                  <a:srgbClr val="000000"/>
                </a:solidFill>
                <a:effectLst/>
                <a:latin typeface="Times New Roman" panose="02020603050405020304" pitchFamily="18" charset="0"/>
                <a:ea typeface="Times New Roman" panose="02020603050405020304" pitchFamily="18" charset="0"/>
              </a:rPr>
              <a:t>Os sistemas pervasivos, também conhecidos como sistemas ubíquos, móveis e de sensores, têm transformado a forma como interagimos com a tecnologia e o ambiente ao nosso redor. Esses sistemas, caracterizados pela sua presença constante e integração invisível no cotidiano, permitem uma experiência mais fluida, inteligente e adaptativa. A crescente miniaturização dos dispositivos, juntamente com a conectividade avançada e a inteligência distribuída, possibilita que os objetos do dia a dia se tornem "inteligentes", capazes de coletar, processar e responder a dados em tempo real.</a:t>
            </a:r>
            <a:r>
              <a:rPr lang="pt-PT" sz="2800" kern="100" cap="none" dirty="0">
                <a:solidFill>
                  <a:srgbClr val="000000"/>
                </a:solidFill>
                <a:effectLst/>
                <a:latin typeface="Times New Roman" panose="02020603050405020304" pitchFamily="18" charset="0"/>
                <a:ea typeface="Times New Roman" panose="02020603050405020304" pitchFamily="18" charset="0"/>
              </a:rPr>
              <a:t> </a:t>
            </a:r>
            <a:r>
              <a:rPr lang="pt-AO" sz="2400" cap="none" dirty="0">
                <a:effectLst/>
                <a:latin typeface="Times New Roman" panose="02020603050405020304" pitchFamily="18" charset="0"/>
                <a:ea typeface="Times New Roman" panose="02020603050405020304" pitchFamily="18" charset="0"/>
              </a:rPr>
              <a:t>Representam um marco no desenvolvimento da computação e da internet das coisas, oferecendo um enorme potencial para melhorar a qualidade de vida e otimizar processos. </a:t>
            </a:r>
            <a:br>
              <a:rPr lang="pt-AO" sz="2400" kern="100" cap="none" dirty="0">
                <a:solidFill>
                  <a:srgbClr val="000000"/>
                </a:solidFill>
                <a:effectLst/>
                <a:latin typeface="Arial" panose="020B0604020202020204" pitchFamily="34" charset="0"/>
                <a:ea typeface="Arial" panose="020B0604020202020204" pitchFamily="34" charset="0"/>
              </a:rPr>
            </a:br>
            <a:endParaRPr lang="pt-AO" sz="2400" dirty="0"/>
          </a:p>
        </p:txBody>
      </p:sp>
    </p:spTree>
    <p:extLst>
      <p:ext uri="{BB962C8B-B14F-4D97-AF65-F5344CB8AC3E}">
        <p14:creationId xmlns:p14="http://schemas.microsoft.com/office/powerpoint/2010/main" val="1395998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5175BF-2FEC-054F-8081-8E52F2C1113E}"/>
              </a:ext>
            </a:extLst>
          </p:cNvPr>
          <p:cNvSpPr>
            <a:spLocks noGrp="1"/>
          </p:cNvSpPr>
          <p:nvPr>
            <p:ph type="title"/>
          </p:nvPr>
        </p:nvSpPr>
        <p:spPr/>
        <p:txBody>
          <a:bodyPr>
            <a:normAutofit/>
          </a:bodyPr>
          <a:lstStyle/>
          <a:p>
            <a:pPr algn="ctr"/>
            <a:r>
              <a:rPr lang="pt-PT" sz="9600" dirty="0"/>
              <a:t>OBRIGADO</a:t>
            </a:r>
            <a:endParaRPr lang="pt-AO" sz="9600" dirty="0"/>
          </a:p>
        </p:txBody>
      </p:sp>
    </p:spTree>
    <p:extLst>
      <p:ext uri="{BB962C8B-B14F-4D97-AF65-F5344CB8AC3E}">
        <p14:creationId xmlns:p14="http://schemas.microsoft.com/office/powerpoint/2010/main" val="2015287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grpId="0" nodeType="clickEffect">
                                  <p:stCondLst>
                                    <p:cond delay="0"/>
                                  </p:stCondLst>
                                  <p:childTnLst>
                                    <p:animEffect transition="out" filter="fade">
                                      <p:cBhvr>
                                        <p:cTn id="6" dur="2000"/>
                                        <p:tgtEl>
                                          <p:spTgt spid="2"/>
                                        </p:tgtEl>
                                      </p:cBhvr>
                                    </p:animEffect>
                                    <p:anim calcmode="lin" valueType="num">
                                      <p:cBhvr>
                                        <p:cTn id="7" dur="2000"/>
                                        <p:tgtEl>
                                          <p:spTgt spid="2"/>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2"/>
                                        </p:tgtEl>
                                        <p:attrNameLst>
                                          <p:attrName>ppt_h</p:attrName>
                                        </p:attrNameLst>
                                      </p:cBhvr>
                                      <p:tavLst>
                                        <p:tav tm="0">
                                          <p:val>
                                            <p:strVal val="ppt_h"/>
                                          </p:val>
                                        </p:tav>
                                        <p:tav tm="100000">
                                          <p:val>
                                            <p:strVal val="ppt_h"/>
                                          </p:val>
                                        </p:tav>
                                      </p:tavLst>
                                    </p:anim>
                                    <p:set>
                                      <p:cBhvr>
                                        <p:cTn id="9" dur="1" fill="hold">
                                          <p:stCondLst>
                                            <p:cond delay="1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Trilha de Vapor">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docProps/app.xml><?xml version="1.0" encoding="utf-8"?>
<Properties xmlns="http://schemas.openxmlformats.org/officeDocument/2006/extended-properties" xmlns:vt="http://schemas.openxmlformats.org/officeDocument/2006/docPropsVTypes">
  <Template>TM04033937[[fn=Trilha de Vapor]]</Template>
  <TotalTime>5080</TotalTime>
  <Words>1722</Words>
  <Application>Microsoft Office PowerPoint</Application>
  <PresentationFormat>Widescreen</PresentationFormat>
  <Paragraphs>59</Paragraphs>
  <Slides>18</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18</vt:i4>
      </vt:variant>
    </vt:vector>
  </HeadingPairs>
  <TitlesOfParts>
    <vt:vector size="24" baseType="lpstr">
      <vt:lpstr>Arial</vt:lpstr>
      <vt:lpstr>Calibri</vt:lpstr>
      <vt:lpstr>Century Gothic</vt:lpstr>
      <vt:lpstr>Times New Roman</vt:lpstr>
      <vt:lpstr>Wingdings</vt:lpstr>
      <vt:lpstr>Trilha de Vapor</vt:lpstr>
      <vt:lpstr>Universidade Gregório Semedo   Faculdade de Engenharia e Novas Tecnologias   Curso de Engenharia Informática </vt:lpstr>
      <vt:lpstr>FACULDADE DE ENGENHARIA E NOVAS TECNOLOGIAS CURSO DE ENGENHARIA INFORMÁTICA  Sistemas Pervasivos  Uma análise dos sistemas ubíquos, móveis e de sensores.                </vt:lpstr>
      <vt:lpstr>INTRODUÇÃO </vt:lpstr>
      <vt:lpstr>Apresentação do PowerPoint</vt:lpstr>
      <vt:lpstr>Definição e Importância </vt:lpstr>
      <vt:lpstr>Aplicações </vt:lpstr>
      <vt:lpstr>SISTEMAS UBÍQUOS</vt:lpstr>
      <vt:lpstr>Vantagens e Desafios  </vt:lpstr>
      <vt:lpstr>SISTEMAS MÓVEIS </vt:lpstr>
      <vt:lpstr>Aplicações </vt:lpstr>
      <vt:lpstr>Desafios </vt:lpstr>
      <vt:lpstr>SISTEMAS DE SENSORES </vt:lpstr>
      <vt:lpstr>                             Como funciona um sistema de sensores: Sensores: dispositivos que detectam uma mudança em seu ambiente. Existem diferentes tipos de sensores, como: sensores de temperatura: medem a temperatura ambiente. Sensores de umidade: medem a umidade do ar. Sensores de movimento: detectam a presença ou movimento de objetos. Sensores de pressão: medem a pressão atmosférica ou de fluidos. Sensores de luz: detectam a intensidade da luz. Aquisição de dados: os sensores coletam dados em tempo real, convertendo as medições físicas em sinais elétricos ou digitais. </vt:lpstr>
      <vt:lpstr>Processamento: os sinais coletados são enviados a um microcontrolador, processador ou sistema computacional que interpreta os dados. Isso pode incluir filtragem, análise e tomada de decisões com base nas informações.  Transmissão: os dados processados podem ser transmitidos para um sistema central, como um servidor na nuvem, ou para um dispositivo local, onde podem ser armazenados ou usados em tempo real.  Ação: com base nas informações recebidas, o sistema pode executar ações automáticas, como ajustar a temperatura de um termostato, ativar um alarme de segurança ou enviar notificações a usuários.  Interface do usuário: muitas vezes, os dados coletados são apresentados em interfaces gráficas ou aplicativos, permitindo que os usuários visualizem e interajam com as informações. </vt:lpstr>
      <vt:lpstr>Vantagens: Monitoramento em tempo real: permitem a coleta de dados instantânea, possibilitando a tomada de decisões rápidas. Automação: podem acionar processos automaticamente, aumentando a eficiência e reduzindo a necessidade de intervenção manual. Precisão e confiabilidade: sensores modernos oferecem medições precisas, o que é crucial em aplicações críticas, como saúde e segurança. Escalabilidade: É fácil adicionar novos sensores ao sistema para monitorar diferentes parâmetros, permitindo uma personalização conforme a necessidade. Eficiência energética: muitos sensores são projetados para consumir pouca energia, permitindo longos períodos de operação sem necessidade de troca de bateria. Coleta de dados: fornecem uma grande quantidade de dados que podem ser analisados para insights valiosos e melhorias em processos. Segurança: sensores de segurança, como câmeras e detectores de movimento, ajudam a monitorar ambientes e aumentar a proteção. </vt:lpstr>
      <vt:lpstr>Desvantagens: Custo: A aquisição e instalação de sensores, especialmente em larga escala, pode ser cara. Manutenção: sensores podem exigir manutenção regular para garantir precisão e funcionamento adequado. Dependência de tecnologia: sistemas de sensores podem falhar devido a problemas técnicos, interrupções de energia ou falhas de comunicação.     Privacidade: sensores que coletam dados, como câmeras e microfones, podem levantar preocupações sobre privacidade e vigilância. Calibração: sensores precisam ser calibrados regularmente para manter a precisão, o que pode exigir tempo e recursos. Vulnerabilidade: podem ser suscetíveis a interferências externas (como sinais eletromagnéticos) ou ataques cibernéticos, especialmente em sistemas conectados à internet. </vt:lpstr>
      <vt:lpstr>                                                                                CONCLUSÃO Os sistemas pervasivos, também conhecidos como sistemas ubíquos, móveis e de sensores, têm transformado a forma como interagimos com a tecnologia e o ambiente ao nosso redor. Esses sistemas, caracterizados pela sua presença constante e integração invisível no cotidiano, permitem uma experiência mais fluida, inteligente e adaptativa. A crescente miniaturização dos dispositivos, juntamente com a conectividade avançada e a inteligência distribuída, possibilita que os objetos do dia a dia se tornem "inteligentes", capazes de coletar, processar e responder a dados em tempo real. Representam um marco no desenvolvimento da computação e da internet das coisas, oferecendo um enorme potencial para melhorar a qualidade de vida e otimizar processos.  </vt:lpstr>
      <vt:lpstr>OBRIGADO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Tomas Kalwmba</dc:creator>
  <cp:lastModifiedBy>Tomas Kalwmba</cp:lastModifiedBy>
  <cp:revision>4</cp:revision>
  <dcterms:created xsi:type="dcterms:W3CDTF">2024-11-16T07:44:12Z</dcterms:created>
  <dcterms:modified xsi:type="dcterms:W3CDTF">2024-11-21T21:22:41Z</dcterms:modified>
</cp:coreProperties>
</file>